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charts/chart1.xml" ContentType="application/vnd.openxmlformats-officedocument.drawingml.chart+xml"/>
  <Override PartName="/ppt/notesSlides/notesSlide21.xml" ContentType="application/vnd.openxmlformats-officedocument.presentationml.notesSlide+xml"/>
  <Override PartName="/ppt/charts/chart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notesMaster" Target="notesMasters/notesMaster1.xml"/><Relationship Id="rId8" Type="http://schemas.openxmlformats.org/officeDocument/2006/relationships/slide" Target="slides/slide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Earlier local sample</c:v>
          </c:tx>
          <c:spPr>
            <a:solidFill>
              <a:srgbClr val="B89750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1833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Data'!$A$2:$A$6</c:f>
              <c:strCache>
                <c:ptCount val="5"/>
                <c:pt idx="0">
                  <c:v>Initial load</c:v>
                </c:pt>
                <c:pt idx="1">
                  <c:v>Flat filter</c:v>
                </c:pt>
                <c:pt idx="2">
                  <c:v>Save to popup</c:v>
                </c:pt>
                <c:pt idx="3">
                  <c:v>Empty filter</c:v>
                </c:pt>
                <c:pt idx="4">
                  <c:v>Recovery</c:v>
                </c:pt>
              </c:strCache>
            </c:strRef>
          </c:cat>
          <c:val>
            <c:numRef>
              <c:f>'Chart Data'!$B$2:$B$6</c:f>
              <c:numCache>
                <c:formatCode>0.0</c:formatCode>
                <c:ptCount val="5"/>
                <c:pt idx="0">
                  <c:v>1.1850000000000001</c:v>
                </c:pt>
                <c:pt idx="1">
                  <c:v>1.33</c:v>
                </c:pt>
                <c:pt idx="2">
                  <c:v>2.6139999999999999</c:v>
                </c:pt>
                <c:pt idx="3">
                  <c:v>1.22</c:v>
                </c:pt>
                <c:pt idx="4">
                  <c:v>1.4910000000000001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FBE9-40AC-AAA6-D274FC421598}"/>
            </c:ext>
          </c:extLst>
        </c:ser>
        <c:ser>
          <c:idx val="1"/>
          <c:order val="1"/>
          <c:tx>
            <c:v>Later local sample</c:v>
          </c:tx>
          <c:spPr>
            <a:solidFill>
              <a:srgbClr val="18334D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1833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Data'!$C$2:$C$6</c:f>
              <c:strCache>
                <c:ptCount val="5"/>
                <c:pt idx="0">
                  <c:v>Initial load</c:v>
                </c:pt>
                <c:pt idx="1">
                  <c:v>Flat filter</c:v>
                </c:pt>
                <c:pt idx="2">
                  <c:v>Save to popup</c:v>
                </c:pt>
                <c:pt idx="3">
                  <c:v>Empty filter</c:v>
                </c:pt>
                <c:pt idx="4">
                  <c:v>Recovery</c:v>
                </c:pt>
              </c:strCache>
            </c:strRef>
          </c:cat>
          <c:val>
            <c:numRef>
              <c:f>'Chart Data'!$D$2:$D$6</c:f>
              <c:numCache>
                <c:formatCode>0.0</c:formatCode>
                <c:ptCount val="5"/>
                <c:pt idx="0">
                  <c:v>1.296</c:v>
                </c:pt>
                <c:pt idx="1">
                  <c:v>1.196</c:v>
                </c:pt>
                <c:pt idx="2">
                  <c:v>2.3460000000000001</c:v>
                </c:pt>
                <c:pt idx="3">
                  <c:v>1.0349999999999999</c:v>
                </c:pt>
                <c:pt idx="4">
                  <c:v>1.353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FBE9-40AC-AAA6-D274FC42159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D5CD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5F2EA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5F2EA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Local Mira processing sample</c:v>
          </c:tx>
          <c:spPr>
            <a:solidFill>
              <a:srgbClr val="18334D"/>
            </a:solidFill>
          </c:spPr>
          <c:invertIfNegative val="1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00">
                    <a:solidFill>
                      <a:srgbClr val="1833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Language</c:v>
                </c:pt>
                <c:pt idx="1">
                  <c:v>Search diagnosis</c:v>
                </c:pt>
                <c:pt idx="2">
                  <c:v>Preference change</c:v>
                </c:pt>
                <c:pt idx="3">
                  <c:v>Commute advice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1.5609999999999999</c:v>
                </c:pt>
                <c:pt idx="1">
                  <c:v>1.9419999999999999</c:v>
                </c:pt>
                <c:pt idx="2">
                  <c:v>2.0310000000000001</c:v>
                </c:pt>
                <c:pt idx="3">
                  <c:v>1.829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E4DC-446A-9FC1-816127A1FEB0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</c:scaling>
        <c:delete val="0"/>
        <c:axPos val="l"/>
        <c:majorGridlines>
          <c:spPr>
            <a:ln w="9525">
              <a:solidFill>
                <a:srgbClr val="D9D5CD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50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</c:valAx>
      <c:spPr>
        <a:solidFill>
          <a:srgbClr val="F5F2EA"/>
        </a:solidFill>
      </c:spPr>
    </c:plotArea>
    <c:plotVisOnly val="1"/>
    <c:dispBlanksAs val="zero"/>
    <c:showDLblsOverMax val="1"/>
  </c:chart>
  <c:spPr>
    <a:solidFill>
      <a:srgbClr val="F5F2EA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User project brief and repository history</a:t>
            </a:r>
          </a:p>
          <a:p>
            <a:r>
              <a:t>Claims describe recorded implementation and tests, not independent proof of customer outcomes.</a:t>
            </a:r>
          </a:p>
          <a:p>
            <a:r>
              <a:t>The cover uses an existing project visual. It is an illustrative property image, not proof of a listed property or a real visit. Earliest retained local project context is 7 October. Git history begins 8 October.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User conversation and initial README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git log, 8–10 October 2026; workspace context dated 7 October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data/schema-reconciliation.md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data/schema-reconciliation.md; import_data.py; README.md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Public browser observation, 10 October 2026; app.py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agent_runtime.py; agent.py; app.py; README.md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git log; README.md; mira_learning_library.py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mira_learning_library.py; app.py; test_mira_learning_library.py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git commits 3340b83, e6c813b; daily QA findings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storage_backend.py; commit 37ab2a6; deployment reports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followup_service.py; FOLLOWUP_CHANNELS_SETUP.md; app.py</a:t>
            </a:r>
          </a:p>
          <a:p>
            <a:r>
              <a:t>Claims describe recorded implementation and tests, not independent proof of customer outcomes.</a:t>
            </a:r>
          </a:p>
          <a:p>
            <a:r>
              <a:t>Closing a browser tab does not trigger End chat. Delivery-off and cancelled requests do not send. Failed immediate submissions remain queued. Workers and credentials must be configured.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visit_journey.py; visit_journey_ui.py; customer_journey.py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visit_journey.py; customer_journey.py; FOLLOWUP_CHANNELS_SETUP.md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purchase_assessment.py if present; customer_journey.py; complete-release.md</a:t>
            </a:r>
          </a:p>
          <a:p>
            <a:r>
              <a:t>Claims describe recorded implementation and tests, not independent proof of customer outcomes.</a:t>
            </a:r>
          </a:p>
          <a:p>
            <a:r>
              <a:t>Date-filtered reports can use current linked evidence from earlier conversations for the same stable user ID. Silence is not a negative outcome. Owners record confirmed purchase outcomes with evidence. A customer report is not legal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owner_dashboard_ui.py; isolated owner preview screenshot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owner_dashboard_ui.py render metrics</a:t>
            </a:r>
          </a:p>
          <a:p>
            <a:r>
              <a:t>Claims describe recorded implementation and tests, not independent proof of customer outcomes.</a:t>
            </a:r>
          </a:p>
          <a:p>
            <a:r>
              <a:t>Search success denominator is conversations with numeric recorded search results. It does not establish availability or satisfaction. p95 displays Not measured when absent. Follow-up acceptance is not inbox delivery and not a historical per-attempt rate. Collection starts with the analytics release.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owner_dashboard_ui.py; inquiry_log.py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static/mira-blueprint-flowchart.svg; app.py blueprint; customer_journey.py</a:t>
            </a:r>
          </a:p>
          <a:p>
            <a:r>
              <a:t>Claims describe recorded implementation and tests, not independent proof of customer outcomes.</a:t>
            </a:r>
          </a:p>
          <a:p>
            <a:r>
              <a:t>The owner blueprint covers idea, options, implementation, decisions and results. This slide is a concise narrative summary, while the owner flowchart remains available in the product.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data/private/daily_qa/2026-10-10-findings.json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data/private/mira-performance-current.json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daily_qa/2026-10-10-report.md and findings.json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git log; daily_qa release/test reports</a:t>
            </a:r>
          </a:p>
          <a:p>
            <a:r>
              <a:t>Claims describe recorded implementation and tests, not independent proof of customer outcomes.</a:t>
            </a:r>
          </a:p>
          <a:p>
            <a:r>
              <a:t>159 tests: 294.722s. 212 tests: 454.305s. 219 tests: 330.323s. Wati 33 tests: 38.768s. Tests use isolated fixtures/mock transports. No claim of concurrent-user load, full production messaging or all hosted owner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WATI_SETUP.md; whatsapp_followup.py; current Wati browser observation</a:t>
            </a:r>
          </a:p>
          <a:p>
            <a:r>
              <a:t>Claims describe recorded implementation and tests, not independent proof of customer outcomes.</a:t>
            </a:r>
          </a:p>
          <a:p>
            <a:r>
              <a:t>Customer completed Meta connection and QR scan. Refreshed Wati page confirms Connected and setup Completed at 10:15 PM on 10 October; Contacts Completed, Chats Not synced. Business Verification shows Action Required. Production messages remain disabled; no customer message was sent in this verification.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Project history as of 10 October 2026, Asia/Calcutta.</a:t>
            </a:r>
          </a:p>
          <a:p>
            <a:r>
              <a:t>Sources: Complete release and journey deployment reports; WATI_SETUP.md</a:t>
            </a:r>
          </a:p>
          <a:p>
            <a:r>
              <a:t>Claims describe recorded implementation and tests, not independent proof of customer outcomes.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55112931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79808837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21808532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18F5EB23-057E-4DDA-B7D5-CB1F078649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5D2ABD27-7F13-4D97-8A67-92E7C39356A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AE8FE77-A983-403A-AFBC-0EA5ED1CE9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ADCBEAB-F2C7-458B-8678-32ADF0ADE1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E1031AC7-7D80-4A87-9F0F-AE89F46A45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C37063F8-ADE7-48D2-A966-49E61F9E60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B45EC0F6-2D66-4215-8701-B5EE745176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C3016B0E-5D69-4A75-97E4-A55CD0D195AA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B96C44F-E0F6-4248-8C4E-0834E70C63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56A1856B-29CC-441B-905E-45A476D73E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6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D94A7F73-267A-46C3-986E-A72058127FAF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Namma Veedu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59AC814-403A-46E5-AA6A-63EB37B8889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D9C99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D9C99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C99F"/>
                </a:solidFill>
                <a:latin typeface="Arial"/>
                <a:ea typeface="Arial"/>
                <a:cs typeface="Arial"/>
              </a:rPr>
              <a:t>01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61A51AC-1B9C-43EB-B961-7A122A91437C}"/>
              </a:ext>
            </a:extLst>
          </p:cNvPr>
          <p:cNvSpPr>
            <a:spLocks noGrp="1"/>
          </p:cNvSpPr>
          <p:nvPr/>
        </p:nvSpPr>
        <p:spPr>
          <a:xfrm>
            <a:off x="609600" y="1857375"/>
            <a:ext cx="6191250" cy="1381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42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42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Project history and product review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4E5E019-909A-452C-B9B9-A9CDF5047833}"/>
              </a:ext>
            </a:extLst>
          </p:cNvPr>
          <p:cNvSpPr>
            <a:spLocks noGrp="1"/>
          </p:cNvSpPr>
          <p:nvPr/>
        </p:nvSpPr>
        <p:spPr>
          <a:xfrm>
            <a:off x="609600" y="3571875"/>
            <a:ext cx="6191250" cy="1000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250" b="0">
                <a:solidFill>
                  <a:srgbClr val="E7DCC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250" b="0">
                <a:solidFill>
                  <a:srgbClr val="E7DCC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7DCC6"/>
                </a:solidFill>
                <a:latin typeface="Arial"/>
                <a:ea typeface="Arial"/>
                <a:cs typeface="Arial"/>
              </a:rPr>
              <a:t>The idea, Mira, the live website</a:t>
            </a:r>
          </a:p>
          <a:p>
            <a:pPr>
              <a:defRPr sz="2250" b="0">
                <a:solidFill>
                  <a:srgbClr val="E7DCC6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E7DCC6"/>
                </a:solidFill>
                <a:latin typeface="Arial"/>
                <a:ea typeface="Arial"/>
                <a:cs typeface="Arial"/>
              </a:rPr>
              <a:t>and the complete customer journey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F751A00-D7AC-4F2D-B12B-5BCF8D5634F8}"/>
              </a:ext>
            </a:extLst>
          </p:cNvPr>
          <p:cNvSpPr>
            <a:spLocks noGrp="1"/>
          </p:cNvSpPr>
          <p:nvPr/>
        </p:nvSpPr>
        <p:spPr>
          <a:xfrm>
            <a:off x="609600" y="5334000"/>
            <a:ext cx="619125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E7DCC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E7DCC6"/>
                </a:solidFill>
                <a:latin typeface="Arial"/>
                <a:ea typeface="Arial"/>
                <a:cs typeface="Arial"/>
              </a:defRPr>
            </a:pPr>
            <a:r>
              <a:rPr lang="en-IN" sz="1875" b="0">
                <a:solidFill>
                  <a:srgbClr val="E7DCC6"/>
                </a:solidFill>
                <a:latin typeface="Arial"/>
                <a:ea typeface="Arial"/>
                <a:cs typeface="Arial"/>
              </a:rPr>
              <a:t>Through 11 October 2026</a:t>
            </a:r>
            <a:endParaRPr sz="1875" b="0">
              <a:solidFill>
                <a:srgbClr val="E7DCC6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181F33A-7F16-4358-A1F8-BFEED90734C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9630" r="19630"/>
          <a:stretch>
            <a:fillRect/>
          </a:stretch>
        </p:blipFill>
        <p:spPr>
          <a:xfrm>
            <a:off x="7667625" y="1571625"/>
            <a:ext cx="3905250" cy="42862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014884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75F54B56-04AC-4D10-BAF6-498ABA3418D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The original idea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3ECA960-5E38-4141-A64E-C37A8CA022B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02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C063D329-D0E8-49EF-A8D6-9BB698ACF3C6}"/>
              </a:ext>
            </a:extLst>
          </p:cNvPr>
          <p:cNvSpPr>
            <a:spLocks noGrp="1"/>
          </p:cNvSpPr>
          <p:nvPr/>
        </p:nvSpPr>
        <p:spPr>
          <a:xfrm>
            <a:off x="609600" y="16573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 property advisor people can talk to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7EC2F72-1C52-492D-9A50-2E69F6B679C8}"/>
              </a:ext>
            </a:extLst>
          </p:cNvPr>
          <p:cNvSpPr>
            <a:spLocks noGrp="1"/>
          </p:cNvSpPr>
          <p:nvPr/>
        </p:nvSpPr>
        <p:spPr>
          <a:xfrm>
            <a:off x="609600" y="202882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Help customers describe the home they want in English or Tamil.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CB8F14E-19C1-483B-A704-C452456E2142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 useful next step after every 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471DA65-564B-4291-8186-BC040686BBB2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Recommend saved properties, capture interest and arrange a visit.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F394273-F62E-4965-8C39-3EBBBD99E07A}"/>
              </a:ext>
            </a:extLst>
          </p:cNvPr>
          <p:cNvSpPr>
            <a:spLocks noGrp="1"/>
          </p:cNvSpPr>
          <p:nvPr/>
        </p:nvSpPr>
        <p:spPr>
          <a:xfrm>
            <a:off x="609600" y="37909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An owner view of the whole journey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4CA1B10C-89F8-4856-A4D6-4C793FA4D486}"/>
              </a:ext>
            </a:extLst>
          </p:cNvPr>
          <p:cNvSpPr>
            <a:spLocks noGrp="1"/>
          </p:cNvSpPr>
          <p:nvPr/>
        </p:nvSpPr>
        <p:spPr>
          <a:xfrm>
            <a:off x="609600" y="416242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Track conversations, follow-ups, feedback and eventual purchase outcomes.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2CD14D7-6FAF-4A1F-A0A3-70C0E1C2CAAB}"/>
              </a:ext>
            </a:extLst>
          </p:cNvPr>
          <p:cNvSpPr>
            <a:spLocks noGrp="1"/>
          </p:cNvSpPr>
          <p:nvPr/>
        </p:nvSpPr>
        <p:spPr>
          <a:xfrm>
            <a:off x="609600" y="48577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 system that improves with review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9451CB24-4833-4FA9-87A5-2B931E6D3D60}"/>
              </a:ext>
            </a:extLst>
          </p:cNvPr>
          <p:cNvSpPr>
            <a:spLocks noGrp="1"/>
          </p:cNvSpPr>
          <p:nvPr/>
        </p:nvSpPr>
        <p:spPr>
          <a:xfrm>
            <a:off x="609600" y="522922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Turn mistakes and feedback into guidance that the owner approves.</a:t>
            </a:r>
          </a:p>
        </p:txBody>
      </p:sp>
    </p:spTree>
    <p:extLst>
      <p:ext uri="{BB962C8B-B14F-4D97-AF65-F5344CB8AC3E}">
        <p14:creationId xmlns:p14="http://schemas.microsoft.com/office/powerpoint/2010/main" val="16013481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0FC5A9F9-6172-4964-93DB-97DD218B1514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Development timeline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89AE26C9-E243-4683-9840-0BD69931EFB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03   NAMMA VEEDU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8DEBBB65-598C-466A-B902-2DC92383AF4D}"/>
              </a:ext>
            </a:extLst>
          </p:cNvPr>
          <p:cNvGraphicFramePr/>
          <p:nvPr/>
        </p:nvGraphicFramePr>
        <p:xfrm>
          <a:off x="609600" y="1619250"/>
          <a:ext cx="10972800" cy="4191000"/>
        </p:xfrm>
        <a:graphic>
          <a:graphicData uri="http://schemas.openxmlformats.org/drawingml/2006/table">
            <a:tbl>
              <a:tblPr/>
              <a:tblGrid>
                <a:gridCol w="2857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115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98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Period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Main progress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Day 1 context · 7 Oct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Project idea, property sources and first website direction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 Oct · first Git record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Streamlit website, Mira runtime, preference controls and persistent storage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9 Oct · 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Conversation fixes, feedback drafts, shared records and owner access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10 Oct · journey and reporting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Pagination, visits, email workers, purchase assessment and dashboard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98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Today · Wati setup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Adapter tested; WhatsApp Business connected; customer delivery validation remains pending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701644BF-C2E1-4FAB-BA1D-1F3E725E31E0}"/>
              </a:ext>
            </a:extLst>
          </p:cNvPr>
          <p:cNvSpPr>
            <a:spLocks noGrp="1"/>
          </p:cNvSpPr>
          <p:nvPr/>
        </p:nvSpPr>
        <p:spPr>
          <a:xfrm>
            <a:off x="609600" y="5981700"/>
            <a:ext cx="10972800" cy="3333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7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7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The timeline follows retained evidence. It does not assign unrecorded completion dates.</a:t>
            </a:r>
          </a:p>
        </p:txBody>
      </p:sp>
    </p:spTree>
    <p:extLst>
      <p:ext uri="{BB962C8B-B14F-4D97-AF65-F5344CB8AC3E}">
        <p14:creationId xmlns:p14="http://schemas.microsoft.com/office/powerpoint/2010/main" val="16977732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B1C3BE2-CD3C-42B3-A9C7-8FBE7CED751D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Property data foundation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193C06B2-38D0-4C55-B4ED-3C65AF0BF9A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04   NAMMA VEEDU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DC1DC68F-1696-44E7-801B-DF61AF1B5273}"/>
              </a:ext>
            </a:extLst>
          </p:cNvPr>
          <p:cNvGraphicFramePr/>
          <p:nvPr/>
        </p:nvGraphicFramePr>
        <p:xfrm>
          <a:off x="609600" y="1571625"/>
          <a:ext cx="10972800" cy="4286250"/>
        </p:xfrm>
        <a:graphic>
          <a:graphicData uri="http://schemas.openxmlformats.org/drawingml/2006/table">
            <a:tbl>
              <a:tblPr/>
              <a:tblGrid>
                <a:gridCol w="8972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35781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Saved record category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Records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Dated auction records with future end dates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315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Dated ended auctions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29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Undated auction records marked unavailable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5,211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Existing sale advertisements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30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Project references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CMDA approval register entries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200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781"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Total normalized snapshot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5,947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2425ADD9-9C41-46B7-BFC9-3B494C01AC27}"/>
              </a:ext>
            </a:extLst>
          </p:cNvPr>
          <p:cNvSpPr>
            <a:spLocks noGrp="1"/>
          </p:cNvSpPr>
          <p:nvPr/>
        </p:nvSpPr>
        <p:spPr>
          <a:xfrm>
            <a:off x="609600" y="6019800"/>
            <a:ext cx="10972800" cy="30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Import snapshot counts. These are not 5,947 verified available properties.</a:t>
            </a:r>
          </a:p>
        </p:txBody>
      </p:sp>
    </p:spTree>
    <p:extLst>
      <p:ext uri="{BB962C8B-B14F-4D97-AF65-F5344CB8AC3E}">
        <p14:creationId xmlns:p14="http://schemas.microsoft.com/office/powerpoint/2010/main" val="15792723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609ABB0-39B0-41E4-9506-1B614D3AC5A6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Preparing trustworthy search records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26C5830-2D87-4024-B8B7-F507F5ACF41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05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4FD45D2-F2D5-4833-A716-780F8D40FAED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Source reconciliation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8DA675B-E3C3-4C70-8703-3A5354FB752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Map different sheets into one normalized property schema.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6001FDF-5575-430E-A3D5-D563C81D8AE3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Data cleaning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7C20751-7A1E-4D44-B978-675B1455AB89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Normalize known units and numeric prices. Keep missing fields blank.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7815094-AA5F-4C28-900A-FF6E6F8BF41A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Private details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7279EAC-7C54-4BF8-8A17-B28CBA66B083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Omit borrower names, private addresses and raw scraped text.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8DFBE23-11DE-44BB-8115-3F1AC8538BB4}"/>
              </a:ext>
            </a:extLst>
          </p:cNvPr>
          <p:cNvSpPr>
            <a:spLocks noGrp="1"/>
          </p:cNvSpPr>
          <p:nvPr/>
        </p:nvSpPr>
        <p:spPr>
          <a:xfrm>
            <a:off x="6429375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Record distinctions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F2ECE82-7403-46B4-8E6F-4CE3A394C4F1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Keep sale offers, project references and approvals separate.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B30F8E1-0E9D-4790-86A4-34FC0705416C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Auction safeguards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491A1F8-E51B-4E3F-ADDE-A60BF2360AE5}"/>
              </a:ext>
            </a:extLst>
          </p:cNvPr>
          <p:cNvSpPr>
            <a:spLocks noGrp="1"/>
          </p:cNvSpPr>
          <p:nvPr/>
        </p:nvSpPr>
        <p:spPr>
          <a:xfrm>
            <a:off x="6429375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Separate dated records from undated unavailable snapshots.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FC609D8-C5D9-4074-BF26-5AF890E58ED5}"/>
              </a:ext>
            </a:extLst>
          </p:cNvPr>
          <p:cNvSpPr>
            <a:spLocks noGrp="1"/>
          </p:cNvSpPr>
          <p:nvPr/>
        </p:nvSpPr>
        <p:spPr>
          <a:xfrm>
            <a:off x="6429375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Visible 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C0D86C86-6A2C-4830-BEAF-624D55F922EE}"/>
              </a:ext>
            </a:extLst>
          </p:cNvPr>
          <p:cNvSpPr>
            <a:spLocks noGrp="1"/>
          </p:cNvSpPr>
          <p:nvPr/>
        </p:nvSpPr>
        <p:spPr>
          <a:xfrm>
            <a:off x="6429375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Show source links and dates. Ask users to verify current status.</a:t>
            </a:r>
          </a:p>
        </p:txBody>
      </p:sp>
    </p:spTree>
    <p:extLst>
      <p:ext uri="{BB962C8B-B14F-4D97-AF65-F5344CB8AC3E}">
        <p14:creationId xmlns:p14="http://schemas.microsoft.com/office/powerpoint/2010/main" val="7908475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5E201D5-5224-4A05-9726-EE1626FB3B0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The live customer website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B544EE2-F2DE-42CA-A6C0-562ED5FE7C9F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06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98B20BA1-C7FF-4140-B0CC-90BE5DD41C9F}"/>
              </a:ext>
            </a:extLst>
          </p:cNvPr>
          <p:cNvSpPr>
            <a:spLocks noGrp="1"/>
          </p:cNvSpPr>
          <p:nvPr/>
        </p:nvSpPr>
        <p:spPr>
          <a:xfrm>
            <a:off x="609600" y="1724025"/>
            <a:ext cx="5905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One place to explore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A1A6C08-9E76-4011-8130-8337706F9630}"/>
              </a:ext>
            </a:extLst>
          </p:cNvPr>
          <p:cNvSpPr>
            <a:spLocks noGrp="1"/>
          </p:cNvSpPr>
          <p:nvPr/>
        </p:nvSpPr>
        <p:spPr>
          <a:xfrm>
            <a:off x="609600" y="2095500"/>
            <a:ext cx="59055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Homes, auctions, preferences, official loan sources and area tools.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71FFA4D-AFB5-48CB-8F69-7DDAD69B99AD}"/>
              </a:ext>
            </a:extLst>
          </p:cNvPr>
          <p:cNvSpPr>
            <a:spLocks noGrp="1"/>
          </p:cNvSpPr>
          <p:nvPr/>
        </p:nvSpPr>
        <p:spPr>
          <a:xfrm>
            <a:off x="609600" y="3038475"/>
            <a:ext cx="5905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Mira beside the search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1499509-8760-473B-9767-A10ADC8DA37B}"/>
              </a:ext>
            </a:extLst>
          </p:cNvPr>
          <p:cNvSpPr>
            <a:spLocks noGrp="1"/>
          </p:cNvSpPr>
          <p:nvPr/>
        </p:nvSpPr>
        <p:spPr>
          <a:xfrm>
            <a:off x="609600" y="3409950"/>
            <a:ext cx="59055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English/Tamil welcome, guided questions and customer feedback.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B11F79-12D3-4A50-8021-6B5CCD5094C5}"/>
              </a:ext>
            </a:extLst>
          </p:cNvPr>
          <p:cNvSpPr>
            <a:spLocks noGrp="1"/>
          </p:cNvSpPr>
          <p:nvPr/>
        </p:nvSpPr>
        <p:spPr>
          <a:xfrm>
            <a:off x="609600" y="4352925"/>
            <a:ext cx="590550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Consistent experience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2B465C2-FC7A-4E53-9398-DE696DE347AD}"/>
              </a:ext>
            </a:extLst>
          </p:cNvPr>
          <p:cNvSpPr>
            <a:spLocks noGrp="1"/>
          </p:cNvSpPr>
          <p:nvPr/>
        </p:nvSpPr>
        <p:spPr>
          <a:xfrm>
            <a:off x="609600" y="4724400"/>
            <a:ext cx="590550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Architectural Wash customer page with readable navy controls.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38B913F-B8CF-4C01-9584-01725EC53D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000875" y="2524125"/>
            <a:ext cx="4572000" cy="2571750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3CE89639-49A9-4A6D-A0D7-8F8DE1A99577}"/>
              </a:ext>
            </a:extLst>
          </p:cNvPr>
          <p:cNvSpPr>
            <a:spLocks noGrp="1"/>
          </p:cNvSpPr>
          <p:nvPr/>
        </p:nvSpPr>
        <p:spPr>
          <a:xfrm>
            <a:off x="7000875" y="6096000"/>
            <a:ext cx="4572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Live public website</a:t>
            </a:r>
          </a:p>
        </p:txBody>
      </p:sp>
    </p:spTree>
    <p:extLst>
      <p:ext uri="{BB962C8B-B14F-4D97-AF65-F5344CB8AC3E}">
        <p14:creationId xmlns:p14="http://schemas.microsoft.com/office/powerpoint/2010/main" val="14026025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07F1290F-0B42-4F4A-89A2-AF805506D204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How Mira answers a request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F5D1CFC-EF3A-458B-88EE-A0666724B7C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07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EA6FAB6-B680-425F-8014-BF1385395D14}"/>
              </a:ext>
            </a:extLst>
          </p:cNvPr>
          <p:cNvSpPr>
            <a:spLocks noGrp="1"/>
          </p:cNvSpPr>
          <p:nvPr/>
        </p:nvSpPr>
        <p:spPr>
          <a:xfrm>
            <a:off x="609600" y="164782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Understand the message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85B755CA-0833-4415-8E4B-07AAD2330B42}"/>
              </a:ext>
            </a:extLst>
          </p:cNvPr>
          <p:cNvSpPr>
            <a:spLocks noGrp="1"/>
          </p:cNvSpPr>
          <p:nvPr/>
        </p:nvSpPr>
        <p:spPr>
          <a:xfrm>
            <a:off x="609600" y="201930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Identify language, search intent, preferences and the selected property.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11FB1CA-2434-4B3C-BB82-35D918E97C10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Use a constrained tool route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A5AEB04-DD9F-47B2-A460-B29E48FE8AE1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Search local records or use official source links and calculators.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723D97E-2C9F-426B-AB32-483B9717D919}"/>
              </a:ext>
            </a:extLst>
          </p:cNvPr>
          <p:cNvSpPr>
            <a:spLocks noGrp="1"/>
          </p:cNvSpPr>
          <p:nvPr/>
        </p:nvSpPr>
        <p:spPr>
          <a:xfrm>
            <a:off x="609600" y="378142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Check the available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979E205-4D83-486D-8F03-847853B2A64F}"/>
              </a:ext>
            </a:extLst>
          </p:cNvPr>
          <p:cNvSpPr>
            <a:spLocks noGrp="1"/>
          </p:cNvSpPr>
          <p:nvPr/>
        </p:nvSpPr>
        <p:spPr>
          <a:xfrm>
            <a:off x="609600" y="415290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Preserve unknown details and explain filters that block a match.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2552911-8CC7-4462-858E-8557BBF2CF24}"/>
              </a:ext>
            </a:extLst>
          </p:cNvPr>
          <p:cNvSpPr>
            <a:spLocks noGrp="1"/>
          </p:cNvSpPr>
          <p:nvPr/>
        </p:nvSpPr>
        <p:spPr>
          <a:xfrm>
            <a:off x="609600" y="484822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Respond and save the contribution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F26F1E65-7F00-4E9A-93D5-80011E46F2B5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Return a concise answer and record the turn for owner review.</a:t>
            </a:r>
          </a:p>
        </p:txBody>
      </p:sp>
    </p:spTree>
    <p:extLst>
      <p:ext uri="{BB962C8B-B14F-4D97-AF65-F5344CB8AC3E}">
        <p14:creationId xmlns:p14="http://schemas.microsoft.com/office/powerpoint/2010/main" val="18929510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7B20AF0-1379-423E-A106-9772F7DCD363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How we improved Mira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160D1D5-CB97-4C94-94FA-79F938C6D60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08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1ADB582-D78A-4A20-B179-E79C8F5DEEF9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Conversation guidance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049BAEAB-7E50-4837-ACF3-5BB7BFF52E49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Added greetings, empathy, clarification and grounded response patterns.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6425788-537C-4855-AF9C-E54531CA2B53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Preference memory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970F0F-57F7-4B59-A5A6-DD022F2533C9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Preserve budget and location while updating multiple requirements.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8002262-9973-42D3-9856-48F1EE6EBCFE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Corrections and removal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58A3312-3266-4548-AB21-C2E58B85F00E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Remove rejected types, amenities or listings without restoring them later.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83D7BA-7E51-4E28-9FED-19869F024024}"/>
              </a:ext>
            </a:extLst>
          </p:cNvPr>
          <p:cNvSpPr>
            <a:spLocks noGrp="1"/>
          </p:cNvSpPr>
          <p:nvPr/>
        </p:nvSpPr>
        <p:spPr>
          <a:xfrm>
            <a:off x="6429375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Short references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467F7C6-5075-4DEF-9965-5D038B41635A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Resolve “the second one” against the visible shortlist.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E62CA63-692E-4BBF-82F5-80212781E9E2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Tamil and Tanglish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267961E-69A0-4B51-9733-F67B096B01F7}"/>
              </a:ext>
            </a:extLst>
          </p:cNvPr>
          <p:cNvSpPr>
            <a:spLocks noGrp="1"/>
          </p:cNvSpPr>
          <p:nvPr/>
        </p:nvSpPr>
        <p:spPr>
          <a:xfrm>
            <a:off x="6429375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Improve budget parsing, area wording and language continuity.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02AF0E58-72A7-413C-8DB7-825B26214E9E}"/>
              </a:ext>
            </a:extLst>
          </p:cNvPr>
          <p:cNvSpPr>
            <a:spLocks noGrp="1"/>
          </p:cNvSpPr>
          <p:nvPr/>
        </p:nvSpPr>
        <p:spPr>
          <a:xfrm>
            <a:off x="6429375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Training approach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949E66F-68ED-4DF1-957B-B723D790140E}"/>
              </a:ext>
            </a:extLst>
          </p:cNvPr>
          <p:cNvSpPr>
            <a:spLocks noGrp="1"/>
          </p:cNvSpPr>
          <p:nvPr/>
        </p:nvSpPr>
        <p:spPr>
          <a:xfrm>
            <a:off x="6429375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Prompt guidance and reviewed rules. No model-weight fine-tuning claimed.</a:t>
            </a:r>
          </a:p>
        </p:txBody>
      </p:sp>
    </p:spTree>
    <p:extLst>
      <p:ext uri="{BB962C8B-B14F-4D97-AF65-F5344CB8AC3E}">
        <p14:creationId xmlns:p14="http://schemas.microsoft.com/office/powerpoint/2010/main" val="10747265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63AB9D-A03C-42A6-B961-1CF4E8358C1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Feedback and approved learning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921EB3B-51C2-494E-9FB4-90E54689B3C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09   NAMMA VEEDU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7AAF5CD-67B0-43A3-8717-16FE098E7AB1}"/>
              </a:ext>
            </a:extLst>
          </p:cNvPr>
          <p:cNvGraphicFramePr/>
          <p:nvPr/>
        </p:nvGraphicFramePr>
        <p:xfrm>
          <a:off x="609600" y="1666875"/>
          <a:ext cx="10972800" cy="4000500"/>
        </p:xfrm>
        <a:graphic>
          <a:graphicData uri="http://schemas.openxmlformats.org/drawingml/2006/table">
            <a:tbl>
              <a:tblPr/>
              <a:tblGrid>
                <a:gridCol w="2095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877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Step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What the system does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 · Collect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Customer submits a comment and optional Mira rating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2 · Link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Save the feedback with its conversation and feedback ID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 · Draft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Create a learning suggestion for owner review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4 · Review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Owner edits, approves, rejects or pauses the rule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5 · Apply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Only approved guidance affects future Mira responses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D2AF76AF-3450-4A6C-914A-F975C9006208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972800" cy="3429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Feedback never silently rewrites Mira. The owner retains approval control.</a:t>
            </a:r>
          </a:p>
        </p:txBody>
      </p:sp>
    </p:spTree>
    <p:extLst>
      <p:ext uri="{BB962C8B-B14F-4D97-AF65-F5344CB8AC3E}">
        <p14:creationId xmlns:p14="http://schemas.microsoft.com/office/powerpoint/2010/main" val="206891304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B6040077-9E5A-4364-8C8F-867B4FFA94CD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Search improvements and recovery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88CC8A-5006-489F-AD21-B4F21700E375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10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ECB24DCE-84B3-4840-A601-0FBA1EEDF6B3}"/>
              </a:ext>
            </a:extLst>
          </p:cNvPr>
          <p:cNvSpPr>
            <a:spLocks noGrp="1"/>
          </p:cNvSpPr>
          <p:nvPr/>
        </p:nvSpPr>
        <p:spPr>
          <a:xfrm>
            <a:off x="609600" y="16668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All matching results remain accessible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A4778A8-DB54-4F9B-83BC-D5B372AD4EF6}"/>
              </a:ext>
            </a:extLst>
          </p:cNvPr>
          <p:cNvSpPr>
            <a:spLocks noGrp="1"/>
          </p:cNvSpPr>
          <p:nvPr/>
        </p:nvSpPr>
        <p:spPr>
          <a:xfrm>
            <a:off x="609600" y="20383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Five listings per page with numbered pagination.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1A6CAEB0-0B9F-4476-B6D1-FA91E813B0C9}"/>
              </a:ext>
            </a:extLst>
          </p:cNvPr>
          <p:cNvSpPr>
            <a:spLocks noGrp="1"/>
          </p:cNvSpPr>
          <p:nvPr/>
        </p:nvSpPr>
        <p:spPr>
          <a:xfrm>
            <a:off x="609600" y="27336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 clear explanation when nothing matches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916B099-EB14-4908-A3B3-24E6EAA73F12}"/>
              </a:ext>
            </a:extLst>
          </p:cNvPr>
          <p:cNvSpPr>
            <a:spLocks noGrp="1"/>
          </p:cNvSpPr>
          <p:nvPr/>
        </p:nvSpPr>
        <p:spPr>
          <a:xfrm>
            <a:off x="609600" y="31051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Mira identifies restrictive preferences and asks which one to change.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0C07D0D-09E9-4E09-ACE7-E3BE800D5DAC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Customer choices stay explicit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64AF37A-591F-4E9C-8650-C8F39A420D78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Support multiple preferences, shortlist selection and cancellation.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B4BEFFA-B0D0-4C94-A54D-712CD7EB32E1}"/>
              </a:ext>
            </a:extLst>
          </p:cNvPr>
          <p:cNvSpPr>
            <a:spLocks noGrp="1"/>
          </p:cNvSpPr>
          <p:nvPr/>
        </p:nvSpPr>
        <p:spPr>
          <a:xfrm>
            <a:off x="609600" y="48672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Observed public example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47585F4-0695-4C95-9B0B-0B2966B5025A}"/>
              </a:ext>
            </a:extLst>
          </p:cNvPr>
          <p:cNvSpPr>
            <a:spLocks noGrp="1"/>
          </p:cNvSpPr>
          <p:nvPr/>
        </p:nvSpPr>
        <p:spPr>
          <a:xfrm>
            <a:off x="609600" y="52387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The Flat filter returned 148 saved matches. Page 2 displayed listings 6–10.</a:t>
            </a:r>
          </a:p>
        </p:txBody>
      </p:sp>
    </p:spTree>
    <p:extLst>
      <p:ext uri="{BB962C8B-B14F-4D97-AF65-F5344CB8AC3E}">
        <p14:creationId xmlns:p14="http://schemas.microsoft.com/office/powerpoint/2010/main" val="187944488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270240C7-36E7-499A-AFDC-CCF4E70A4C0C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Shared records across public and localhost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5666FE7-C092-41F7-8E7C-2BCC70B9F8A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11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6B8B46B-F494-4CB6-8CFC-C1468EAE5A73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One configured Supabase database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21A6C07-3E50-423B-8035-A6041F941DDD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Public and local apps read the same inquiry and approval records.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B0CA07E-159A-4AD6-A538-F383BF29E305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Linked customer journey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7090C7D-04FB-4CBC-9AB1-9E86335BF589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Conversation IDs and stable user IDs connect related actions.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2F2BFE-68DA-45F5-BA64-F8427421204D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Historical continuity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57029E6-6C71-4039-9184-ACCF573A7B54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Legacy import deduplication and snapshot refresh fixes preserve history.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F8D950C-EE4F-43FC-A242-29027143007A}"/>
              </a:ext>
            </a:extLst>
          </p:cNvPr>
          <p:cNvSpPr>
            <a:spLocks noGrp="1"/>
          </p:cNvSpPr>
          <p:nvPr/>
        </p:nvSpPr>
        <p:spPr>
          <a:xfrm>
            <a:off x="6429375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Owner authentication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100B5E4-8C7D-4401-B35C-8A1AD73C4088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Mira Studio remains password protected.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B9966C1-6FEA-4093-BE91-ABB62D7E209E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Private server configuration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B1802E3-FB8A-42FA-A182-CDC1B55B6852}"/>
              </a:ext>
            </a:extLst>
          </p:cNvPr>
          <p:cNvSpPr>
            <a:spLocks noGrp="1"/>
          </p:cNvSpPr>
          <p:nvPr/>
        </p:nvSpPr>
        <p:spPr>
          <a:xfrm>
            <a:off x="6429375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Database and messaging credentials stay outside source control.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E2E090D-B5E9-40C9-A63E-B2BE37E8550B}"/>
              </a:ext>
            </a:extLst>
          </p:cNvPr>
          <p:cNvSpPr>
            <a:spLocks noGrp="1"/>
          </p:cNvSpPr>
          <p:nvPr/>
        </p:nvSpPr>
        <p:spPr>
          <a:xfrm>
            <a:off x="6429375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Identity limits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09D9FFF-799F-404F-950F-10B9B7F3D6DB}"/>
              </a:ext>
            </a:extLst>
          </p:cNvPr>
          <p:cNvSpPr>
            <a:spLocks noGrp="1"/>
          </p:cNvSpPr>
          <p:nvPr/>
        </p:nvSpPr>
        <p:spPr>
          <a:xfrm>
            <a:off x="6429375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Browser identity is not a full customer login or cross-device recovery system.</a:t>
            </a:r>
          </a:p>
        </p:txBody>
      </p:sp>
    </p:spTree>
    <p:extLst>
      <p:ext uri="{BB962C8B-B14F-4D97-AF65-F5344CB8AC3E}">
        <p14:creationId xmlns:p14="http://schemas.microsoft.com/office/powerpoint/2010/main" val="18409195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7FD6B19-1D17-4B51-A636-C02634FD261F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Recommendations and scheduled follow-ups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5C81483-08AC-4B3A-9A8E-BAA2D1AC814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12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A4C79410-BEC9-4CD5-A2C6-16F1F0F350F8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Save directly through Mira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3D1B677-E6FE-4567-8127-792F063B814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Collect contact and explicit consent, save the request and show “Follow-up saved”.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24BA45B-B512-470B-A498-CEEA17B6B8B7}"/>
              </a:ext>
            </a:extLst>
          </p:cNvPr>
          <p:cNvSpPr>
            <a:spLocks noGrp="1"/>
          </p:cNvSpPr>
          <p:nvPr/>
        </p:nvSpPr>
        <p:spPr>
          <a:xfrm>
            <a:off x="609600" y="271462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Email at explicit End chat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26922B-E048-4E7D-A461-CC9EAA965ACC}"/>
              </a:ext>
            </a:extLst>
          </p:cNvPr>
          <p:cNvSpPr>
            <a:spLocks noGrp="1"/>
          </p:cNvSpPr>
          <p:nvPr/>
        </p:nvSpPr>
        <p:spPr>
          <a:xfrm>
            <a:off x="609600" y="308610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Submit saved recommendations to the entered email for an active opted-in schedule.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1455C61-D5D1-447B-B901-6E7C1443E621}"/>
              </a:ext>
            </a:extLst>
          </p:cNvPr>
          <p:cNvSpPr>
            <a:spLocks noGrp="1"/>
          </p:cNvSpPr>
          <p:nvPr/>
        </p:nvSpPr>
        <p:spPr>
          <a:xfrm>
            <a:off x="609600" y="38004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Keep the later schedule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423C3B5-9014-4E3E-A54C-D41A7261F1D5}"/>
              </a:ext>
            </a:extLst>
          </p:cNvPr>
          <p:cNvSpPr>
            <a:spLocks noGrp="1"/>
          </p:cNvSpPr>
          <p:nvPr/>
        </p:nvSpPr>
        <p:spPr>
          <a:xfrm>
            <a:off x="609600" y="41719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One or up to three scheduled emails at three-day intervals, based on the selected option.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13D80061-CC2C-436E-B81D-B39F1F2B7B28}"/>
              </a:ext>
            </a:extLst>
          </p:cNvPr>
          <p:cNvSpPr>
            <a:spLocks noGrp="1"/>
          </p:cNvSpPr>
          <p:nvPr/>
        </p:nvSpPr>
        <p:spPr>
          <a:xfrm>
            <a:off x="609600" y="488632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Cancellation and delivery evidence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1492406-381F-44FE-834F-6345F5871A9A}"/>
              </a:ext>
            </a:extLst>
          </p:cNvPr>
          <p:cNvSpPr>
            <a:spLocks noGrp="1"/>
          </p:cNvSpPr>
          <p:nvPr/>
        </p:nvSpPr>
        <p:spPr>
          <a:xfrm>
            <a:off x="609600" y="525780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Stop links and queue states support review. SMTP acceptance does not prove inbox receipt.</a:t>
            </a:r>
          </a:p>
        </p:txBody>
      </p:sp>
    </p:spTree>
    <p:extLst>
      <p:ext uri="{BB962C8B-B14F-4D97-AF65-F5344CB8AC3E}">
        <p14:creationId xmlns:p14="http://schemas.microsoft.com/office/powerpoint/2010/main" val="72973425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B0C11266-1630-48BC-90EA-A077F2A9FB32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Property selection and visit requests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BB721B29-362E-4A88-8DBF-47CCCDCFB89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13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CBEC579-3434-4324-AADC-A79058FA6247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Choose a property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A2EFF01-DDD1-483A-A9AB-19585AED574B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Save preferred properties and keep the listing linked to the conversation.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70D0CA7-994E-45D3-8914-506C07006B29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Book a slot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2AD4788-C14D-4D86-AA07-6EB40B070E7C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Request a predefined slot or a custom date and time in IST.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5DA25F5-D675-4E9D-8A7F-F72321E0E421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Owner confirmation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D847052A-7D87-46F2-B39F-D2D87DB2198B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The booking starts as Requested. The owner verifies access and confirms it.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AC111FF-67B2-4B98-9DC0-323A4470695D}"/>
              </a:ext>
            </a:extLst>
          </p:cNvPr>
          <p:cNvSpPr>
            <a:spLocks noGrp="1"/>
          </p:cNvSpPr>
          <p:nvPr/>
        </p:nvSpPr>
        <p:spPr>
          <a:xfrm>
            <a:off x="6429375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Visit reminder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5F30BE5-72CA-472D-9E93-D602523B3927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With separate email consent, the reminder becomes due one hour before the confirmed visit.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0655876-C634-450D-A97F-D931E9C2E3C5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After the visit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1D0DA8D-174D-4D8F-8E1E-108332DDA669}"/>
              </a:ext>
            </a:extLst>
          </p:cNvPr>
          <p:cNvSpPr>
            <a:spLocks noGrp="1"/>
          </p:cNvSpPr>
          <p:nvPr/>
        </p:nvSpPr>
        <p:spPr>
          <a:xfrm>
            <a:off x="6429375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 feedback email becomes due two hours later and asks whether the customer attended.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52B088C-2F29-4548-88BB-38B109BC0914}"/>
              </a:ext>
            </a:extLst>
          </p:cNvPr>
          <p:cNvSpPr>
            <a:spLocks noGrp="1"/>
          </p:cNvSpPr>
          <p:nvPr/>
        </p:nvSpPr>
        <p:spPr>
          <a:xfrm>
            <a:off x="6429375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Customer controls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84B1AAD7-B0E6-418D-A6CB-13F8957EE778}"/>
              </a:ext>
            </a:extLst>
          </p:cNvPr>
          <p:cNvSpPr>
            <a:spLocks noGrp="1"/>
          </p:cNvSpPr>
          <p:nvPr/>
        </p:nvSpPr>
        <p:spPr>
          <a:xfrm>
            <a:off x="6429375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Confirm, decline with a reason, cancel or request rescheduling.</a:t>
            </a:r>
          </a:p>
        </p:txBody>
      </p:sp>
    </p:spTree>
    <p:extLst>
      <p:ext uri="{BB962C8B-B14F-4D97-AF65-F5344CB8AC3E}">
        <p14:creationId xmlns:p14="http://schemas.microsoft.com/office/powerpoint/2010/main" val="101616280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83AAFDC-9E5B-418E-B10A-F073F655A71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The visit response and assistance loop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2DCD9D-691C-41C4-B42B-5A34F158DAE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14   NAMMA VEEDU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F19A1F07-D4EF-4B95-AC62-571E0ED86F97}"/>
              </a:ext>
            </a:extLst>
          </p:cNvPr>
          <p:cNvGraphicFramePr/>
          <p:nvPr/>
        </p:nvGraphicFramePr>
        <p:xfrm>
          <a:off x="609600" y="1666875"/>
          <a:ext cx="10972800" cy="4000500"/>
        </p:xfrm>
        <a:graphic>
          <a:graphicData uri="http://schemas.openxmlformats.org/drawingml/2006/table">
            <a:tbl>
              <a:tblPr/>
              <a:tblGrid>
                <a:gridCol w="33337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390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66675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 response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Next action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Confirms the visit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Show a welcoming acknowledgement and retain the visit details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Cannot attend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Capture the reason and offer a new time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Visited and interested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Ask what help is needed to move forward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Property or finance help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Create a consented request for Nick in the appropriate advisor role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66675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Not interested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Capture the reason and offer another search with permission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32E79207-1500-4DF9-A482-CB35F3D69DA9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Advisor requests enter owner review. Nick handles both roles; connection status is recorded manually.</a:t>
            </a:r>
          </a:p>
        </p:txBody>
      </p:sp>
    </p:spTree>
    <p:extLst>
      <p:ext uri="{BB962C8B-B14F-4D97-AF65-F5344CB8AC3E}">
        <p14:creationId xmlns:p14="http://schemas.microsoft.com/office/powerpoint/2010/main" val="16962608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E7FF9837-06E0-4D12-8F01-D933B45457B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Purchase progress and assessment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FA2848-FEC7-4A98-821E-B4C2DC665F7A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15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AB5B64D-BDC2-4BEE-891A-8EA904ED5FFA}"/>
              </a:ext>
            </a:extLst>
          </p:cNvPr>
          <p:cNvSpPr>
            <a:spLocks noGrp="1"/>
          </p:cNvSpPr>
          <p:nvPr/>
        </p:nvSpPr>
        <p:spPr>
          <a:xfrm>
            <a:off x="609600" y="16383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Interest starts assistance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4A0DD78-3180-4456-BA17-6249CC7B652E}"/>
              </a:ext>
            </a:extLst>
          </p:cNvPr>
          <p:cNvSpPr>
            <a:spLocks noGrp="1"/>
          </p:cNvSpPr>
          <p:nvPr/>
        </p:nvSpPr>
        <p:spPr>
          <a:xfrm>
            <a:off x="609600" y="200977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“I’m interested” prompts help with a visit, property details or loan guidance.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5737ADE-645A-4018-BB5D-3CD605618122}"/>
              </a:ext>
            </a:extLst>
          </p:cNvPr>
          <p:cNvSpPr>
            <a:spLocks noGrp="1"/>
          </p:cNvSpPr>
          <p:nvPr/>
        </p:nvSpPr>
        <p:spPr>
          <a:xfrm>
            <a:off x="609600" y="27241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 customer purchase report is separate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71E3E9-3CD3-4927-9D66-1D40911D0693}"/>
              </a:ext>
            </a:extLst>
          </p:cNvPr>
          <p:cNvSpPr>
            <a:spLocks noGrp="1"/>
          </p:cNvSpPr>
          <p:nvPr/>
        </p:nvSpPr>
        <p:spPr>
          <a:xfrm>
            <a:off x="609600" y="309562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It can stop that property’s visit reminders and create one owner notification.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0031496-05C5-4029-A1DC-8AA3D474EEA7}"/>
              </a:ext>
            </a:extLst>
          </p:cNvPr>
          <p:cNvSpPr>
            <a:spLocks noGrp="1"/>
          </p:cNvSpPr>
          <p:nvPr/>
        </p:nvSpPr>
        <p:spPr>
          <a:xfrm>
            <a:off x="609600" y="381000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The dashboard shows supporting evidence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8127C2B8-E9FC-45CF-B982-9866FA90DF34}"/>
              </a:ext>
            </a:extLst>
          </p:cNvPr>
          <p:cNvSpPr>
            <a:spLocks noGrp="1"/>
          </p:cNvSpPr>
          <p:nvPr/>
        </p:nvSpPr>
        <p:spPr>
          <a:xfrm>
            <a:off x="609600" y="418147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Likelihood assessment, evidence, status, update time and actual purchase outcome.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156970-202B-4455-B159-442D20132214}"/>
              </a:ext>
            </a:extLst>
          </p:cNvPr>
          <p:cNvSpPr>
            <a:spLocks noGrp="1"/>
          </p:cNvSpPr>
          <p:nvPr/>
        </p:nvSpPr>
        <p:spPr>
          <a:xfrm>
            <a:off x="609600" y="4895850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Validation still needs real outcomes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8BC57192-CFCD-4CE7-A60D-499D098522B8}"/>
              </a:ext>
            </a:extLst>
          </p:cNvPr>
          <p:cNvSpPr>
            <a:spLocks noGrp="1"/>
          </p:cNvSpPr>
          <p:nvPr/>
        </p:nvSpPr>
        <p:spPr>
          <a:xfrm>
            <a:off x="609600" y="5267325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No confirmed purchases were available for training a calibrated probability model.</a:t>
            </a:r>
          </a:p>
        </p:txBody>
      </p:sp>
    </p:spTree>
    <p:extLst>
      <p:ext uri="{BB962C8B-B14F-4D97-AF65-F5344CB8AC3E}">
        <p14:creationId xmlns:p14="http://schemas.microsoft.com/office/powerpoint/2010/main" val="200617609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67C7A295-CF95-4687-A953-E96AE0FB3583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Mira Studio dashboard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D0DCCAE-3D8B-4498-AD38-FE2B9932BBF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16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52DC29-B243-4CDC-9956-4493D19AC43A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6048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Eight primary KPIs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469DED2-6627-4313-A923-FCA199FD46A1}"/>
              </a:ext>
            </a:extLst>
          </p:cNvPr>
          <p:cNvSpPr>
            <a:spLocks noGrp="1"/>
          </p:cNvSpPr>
          <p:nvPr/>
        </p:nvSpPr>
        <p:spPr>
          <a:xfrm>
            <a:off x="609600" y="2085975"/>
            <a:ext cx="604837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Website and Mira performance, search, follow-ups and customer outcomes.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07C43E8-4CB8-4A86-AA8D-448F2B9059D0}"/>
              </a:ext>
            </a:extLst>
          </p:cNvPr>
          <p:cNvSpPr>
            <a:spLocks noGrp="1"/>
          </p:cNvSpPr>
          <p:nvPr/>
        </p:nvSpPr>
        <p:spPr>
          <a:xfrm>
            <a:off x="609600" y="3019425"/>
            <a:ext cx="6048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Separate activity charts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0BF5A9A-B146-440A-BB0F-28F2E8BF2C04}"/>
              </a:ext>
            </a:extLst>
          </p:cNvPr>
          <p:cNvSpPr>
            <a:spLocks noGrp="1"/>
          </p:cNvSpPr>
          <p:nvPr/>
        </p:nvSpPr>
        <p:spPr>
          <a:xfrm>
            <a:off x="609600" y="3390900"/>
            <a:ext cx="604837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Website sessions and Mira conversations/replies have distinct charts.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9DABFE-8D8B-4488-87B4-9F3F6F843652}"/>
              </a:ext>
            </a:extLst>
          </p:cNvPr>
          <p:cNvSpPr>
            <a:spLocks noGrp="1"/>
          </p:cNvSpPr>
          <p:nvPr/>
        </p:nvSpPr>
        <p:spPr>
          <a:xfrm>
            <a:off x="609600" y="4324350"/>
            <a:ext cx="6048375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Owner action controls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577ADCD-F7F7-4DDA-B057-E4B58935A092}"/>
              </a:ext>
            </a:extLst>
          </p:cNvPr>
          <p:cNvSpPr>
            <a:spLocks noGrp="1"/>
          </p:cNvSpPr>
          <p:nvPr/>
        </p:nvSpPr>
        <p:spPr>
          <a:xfrm>
            <a:off x="609600" y="4695825"/>
            <a:ext cx="6048375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Follow-ups, visits, advisor progress, learning review and outcomes.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CBA27109-3709-41BC-B9F7-4B51AFF7D7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/>
        </p:blipFill>
        <p:spPr>
          <a:xfrm>
            <a:off x="7239000" y="2621756"/>
            <a:ext cx="4191000" cy="2357438"/>
          </a:xfrm>
          <a:prstGeom prst="rect">
            <a:avLst/>
          </a:prstGeom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95AA37E0-13A2-4B31-B4CA-5C123BF441E3}"/>
              </a:ext>
            </a:extLst>
          </p:cNvPr>
          <p:cNvSpPr>
            <a:spLocks noGrp="1"/>
          </p:cNvSpPr>
          <p:nvPr/>
        </p:nvSpPr>
        <p:spPr>
          <a:xfrm>
            <a:off x="7000875" y="6124575"/>
            <a:ext cx="4572000" cy="2381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3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3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Dashboard preview uses fictional QA records</a:t>
            </a:r>
          </a:p>
        </p:txBody>
      </p:sp>
    </p:spTree>
    <p:extLst>
      <p:ext uri="{BB962C8B-B14F-4D97-AF65-F5344CB8AC3E}">
        <p14:creationId xmlns:p14="http://schemas.microsoft.com/office/powerpoint/2010/main" val="83650831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C3A256A-1ACE-4DEC-8ADA-0B6142AC62C5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Eight KPIs and what they measure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9E463305-52A7-495E-B480-CF15C5B8147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17   NAMMA VEEDU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5EFAFE2-F108-4505-96B3-9ADB3FFF99E2}"/>
              </a:ext>
            </a:extLst>
          </p:cNvPr>
          <p:cNvGraphicFramePr/>
          <p:nvPr/>
        </p:nvGraphicFramePr>
        <p:xfrm>
          <a:off x="609600" y="1552575"/>
          <a:ext cx="10972800" cy="4524375"/>
        </p:xfrm>
        <a:graphic>
          <a:graphicData uri="http://schemas.openxmlformats.org/drawingml/2006/table">
            <a:tbl>
              <a:tblPr/>
              <a:tblGrid>
                <a:gridCol w="3143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8295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02708"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KPI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Meaning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Website sessions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Distinct anonymous sessions, not unique people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Dashboard load p95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Measured browser navigation to dashboard paint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Mira response p95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Measured server processing time per turn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Mira rating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Latest valid 1–5 rating per conversation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Search success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Search conversations with at least one recorded match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Follow-up acceptance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Latest known SMTP state of attempted search-email schedules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Visits completed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Recorded attendance / currently confirmed requests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502708"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Confirmed purchases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Owner-recorded Purchased visit outcomes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071975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97774F67-CD7D-4858-B2D0-B33926D8414E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Four connected owner record views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31322EBC-A113-4E44-8357-897CF6192063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18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3493B06-1C19-4B9D-94BC-60A7453D4561}"/>
              </a:ext>
            </a:extLst>
          </p:cNvPr>
          <p:cNvSpPr>
            <a:spLocks noGrp="1"/>
          </p:cNvSpPr>
          <p:nvPr/>
        </p:nvSpPr>
        <p:spPr>
          <a:xfrm>
            <a:off x="609600" y="16287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Inquiries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E8CD4-6B08-4CD1-B376-B24A3043E3A3}"/>
              </a:ext>
            </a:extLst>
          </p:cNvPr>
          <p:cNvSpPr>
            <a:spLocks noGrp="1"/>
          </p:cNvSpPr>
          <p:nvPr/>
        </p:nvSpPr>
        <p:spPr>
          <a:xfrm>
            <a:off x="609600" y="20002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One summary per conversation, with a complete saved-chat reader.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6FF1BA3-7D37-4D72-9D83-44941FC0B95D}"/>
              </a:ext>
            </a:extLst>
          </p:cNvPr>
          <p:cNvSpPr>
            <a:spLocks noGrp="1"/>
          </p:cNvSpPr>
          <p:nvPr/>
        </p:nvSpPr>
        <p:spPr>
          <a:xfrm>
            <a:off x="609600" y="26955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Mira responses and actions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884C223-9897-42CD-B301-6032BF37F9CD}"/>
              </a:ext>
            </a:extLst>
          </p:cNvPr>
          <p:cNvSpPr>
            <a:spLocks noGrp="1"/>
          </p:cNvSpPr>
          <p:nvPr/>
        </p:nvSpPr>
        <p:spPr>
          <a:xfrm>
            <a:off x="609600" y="30670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Replies, response type, matching records, timing and follow-up actions.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C574E9F-562E-4EBC-B8B7-E510D79BA3AD}"/>
              </a:ext>
            </a:extLst>
          </p:cNvPr>
          <p:cNvSpPr>
            <a:spLocks noGrp="1"/>
          </p:cNvSpPr>
          <p:nvPr/>
        </p:nvSpPr>
        <p:spPr>
          <a:xfrm>
            <a:off x="609600" y="37623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Customer feedback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0D11C3E-A1DF-4DB1-B5E1-D87A6545E5E7}"/>
              </a:ext>
            </a:extLst>
          </p:cNvPr>
          <p:cNvSpPr>
            <a:spLocks noGrp="1"/>
          </p:cNvSpPr>
          <p:nvPr/>
        </p:nvSpPr>
        <p:spPr>
          <a:xfrm>
            <a:off x="609600" y="41338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Comments, ratings and conversation-linked feedback IDs.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F46491C5-6946-40CF-83F7-196BB47B203E}"/>
              </a:ext>
            </a:extLst>
          </p:cNvPr>
          <p:cNvSpPr>
            <a:spLocks noGrp="1"/>
          </p:cNvSpPr>
          <p:nvPr/>
        </p:nvSpPr>
        <p:spPr>
          <a:xfrm>
            <a:off x="609600" y="4829175"/>
            <a:ext cx="107632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Mira Learning Library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206C5C6-942A-4E82-A985-61BFF9D00A9B}"/>
              </a:ext>
            </a:extLst>
          </p:cNvPr>
          <p:cNvSpPr>
            <a:spLocks noGrp="1"/>
          </p:cNvSpPr>
          <p:nvPr/>
        </p:nvSpPr>
        <p:spPr>
          <a:xfrm>
            <a:off x="609600" y="5200650"/>
            <a:ext cx="107632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Current draft and approved rules with the existing owner editor.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094D479E-571A-4F63-A952-F6F3EF463A7F}"/>
              </a:ext>
            </a:extLst>
          </p:cNvPr>
          <p:cNvSpPr>
            <a:spLocks noGrp="1"/>
          </p:cNvSpPr>
          <p:nvPr/>
        </p:nvSpPr>
        <p:spPr>
          <a:xfrm>
            <a:off x="609600" y="6048375"/>
            <a:ext cx="10972800" cy="285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Date filters, Excel downloads, snapshot dates and the end-to-end blueprint remain available.</a:t>
            </a:r>
          </a:p>
        </p:txBody>
      </p:sp>
    </p:spTree>
    <p:extLst>
      <p:ext uri="{BB962C8B-B14F-4D97-AF65-F5344CB8AC3E}">
        <p14:creationId xmlns:p14="http://schemas.microsoft.com/office/powerpoint/2010/main" val="22464270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01162F01-2097-4DFC-9955-040BAD85298B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The end-to-end operating blueprint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4991AABE-F40D-48BD-9578-24894B6817E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19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8E3B429-F0E5-4CF2-A8E7-E1C012304C42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Customer-facing journey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C41401D-1A23-42CC-AD41-76745DDF9D6F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Welcome, language, preferences, search, selection and visit request.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1AEE5CE-D6AF-48C5-8613-0D99FEA08990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Follow-up journey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13F83A9-70A0-462A-8D36-9A87A7CE82A4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Recommendation email, scheduled contact, visit reminder and feedback.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8F91851-E319-494A-866C-38063434F495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Assistance journey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39F262C-984E-4A08-9F38-1838E51A29F0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Interest, reason for rejection, rescheduling and advisor request.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CD2D4506-CD84-4E19-A9AB-4EB37B34D223}"/>
              </a:ext>
            </a:extLst>
          </p:cNvPr>
          <p:cNvSpPr>
            <a:spLocks noGrp="1"/>
          </p:cNvSpPr>
          <p:nvPr/>
        </p:nvSpPr>
        <p:spPr>
          <a:xfrm>
            <a:off x="6429375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Owner oversight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2CF48DE8-3C2F-455B-8169-B746F890CC4B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Review inquiries, approve learning, confirm visits and record outcomes.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E4AD4B8-A6A6-4FEA-B127-CED4BD80362D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Shared data layer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F57E7C3-7AB2-47E9-A340-EB97921205CC}"/>
              </a:ext>
            </a:extLst>
          </p:cNvPr>
          <p:cNvSpPr>
            <a:spLocks noGrp="1"/>
          </p:cNvSpPr>
          <p:nvPr/>
        </p:nvSpPr>
        <p:spPr>
          <a:xfrm>
            <a:off x="6429375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Link chats, feedback, schedules and visits through private persistent storage.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50371EE-2047-4A5F-B813-0CA9DE8F653E}"/>
              </a:ext>
            </a:extLst>
          </p:cNvPr>
          <p:cNvSpPr>
            <a:spLocks noGrp="1"/>
          </p:cNvSpPr>
          <p:nvPr/>
        </p:nvSpPr>
        <p:spPr>
          <a:xfrm>
            <a:off x="6429375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Continuous improvement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627AB0E9-AB17-42B3-A1AF-78E37FCE4FC7}"/>
              </a:ext>
            </a:extLst>
          </p:cNvPr>
          <p:cNvSpPr>
            <a:spLocks noGrp="1"/>
          </p:cNvSpPr>
          <p:nvPr/>
        </p:nvSpPr>
        <p:spPr>
          <a:xfrm>
            <a:off x="6429375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Observe failures, reproduce with fixtures, fix and run focused regression.</a:t>
            </a:r>
          </a:p>
        </p:txBody>
      </p:sp>
    </p:spTree>
    <p:extLst>
      <p:ext uri="{BB962C8B-B14F-4D97-AF65-F5344CB8AC3E}">
        <p14:creationId xmlns:p14="http://schemas.microsoft.com/office/powerpoint/2010/main" val="197816474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136D868F-5766-41F6-BAD5-4C425E6E0AA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Local dashboard performance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FB16A37A-88F7-4E17-85D9-F2A9A59D18CC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20   NAMMA VEEDU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13962417-D832-475D-9D7F-9353AE272892}"/>
              </a:ext>
            </a:extLst>
          </p:cNvPr>
          <p:cNvGraphicFramePr/>
          <p:nvPr/>
        </p:nvGraphicFramePr>
        <p:xfrm>
          <a:off x="609600" y="1752600"/>
          <a:ext cx="10972800" cy="36671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9C963D3F-00AB-4E7F-88FC-8900FE81B0DD}"/>
              </a:ext>
            </a:extLst>
          </p:cNvPr>
          <p:cNvSpPr>
            <a:spLocks noGrp="1"/>
          </p:cNvSpPr>
          <p:nvPr/>
        </p:nvSpPr>
        <p:spPr>
          <a:xfrm>
            <a:off x="609600" y="5743575"/>
            <a:ext cx="10972800" cy="361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Seconds. Offline Streamlit AppTest with mocked writes. Empty owner fixture: 0.759 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1C48FFF-3C34-4B4D-B583-D8A474E3EC90}"/>
              </a:ext>
            </a:extLst>
          </p:cNvPr>
          <p:cNvSpPr>
            <a:spLocks noGrp="1"/>
          </p:cNvSpPr>
          <p:nvPr/>
        </p:nvSpPr>
        <p:spPr>
          <a:xfrm>
            <a:off x="609600" y="6143625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No sampled local operation exceeded five seconds. These are not production load benchmarks.</a:t>
            </a:r>
          </a:p>
        </p:txBody>
      </p:sp>
    </p:spTree>
    <p:extLst>
      <p:ext uri="{BB962C8B-B14F-4D97-AF65-F5344CB8AC3E}">
        <p14:creationId xmlns:p14="http://schemas.microsoft.com/office/powerpoint/2010/main" val="1171473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>
            <a:extLst>
              <a:ext uri="{FF2B5EF4-FFF2-40B4-BE49-F238E27FC236}">
                <a16:creationId xmlns:a16="http://schemas.microsoft.com/office/drawing/2014/main" id="{CA128A87-0CBB-4F7F-9680-26A9CEFE358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Mira response samples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7C1D548-66AF-40EB-92F1-9437D00C930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21   NAMMA VEEDU</a:t>
            </a:r>
          </a:p>
        </p:txBody>
      </p:sp>
      <p:graphicFrame>
        <p:nvGraphicFramePr>
          <p:cNvPr id="3" name="Chart">
            <a:extLst>
              <a:ext uri="{FF2B5EF4-FFF2-40B4-BE49-F238E27FC236}">
                <a16:creationId xmlns:a16="http://schemas.microsoft.com/office/drawing/2014/main" id="{ED0A3276-928C-43F9-839A-5F422806CBE4}"/>
              </a:ext>
            </a:extLst>
          </p:cNvPr>
          <p:cNvGraphicFramePr/>
          <p:nvPr/>
        </p:nvGraphicFramePr>
        <p:xfrm>
          <a:off x="609600" y="1743075"/>
          <a:ext cx="10972800" cy="357187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C661387E-F444-41A7-97CB-AAF93DCE8579}"/>
              </a:ext>
            </a:extLst>
          </p:cNvPr>
          <p:cNvSpPr>
            <a:spLocks noGrp="1"/>
          </p:cNvSpPr>
          <p:nvPr/>
        </p:nvSpPr>
        <p:spPr>
          <a:xfrm>
            <a:off x="609600" y="5715000"/>
            <a:ext cx="1097280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Recorded local journey samples in seconds. No exceptions or provider errors in these four cases.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35523DB-128E-43CE-A7A6-9DDD98B09009}"/>
              </a:ext>
            </a:extLst>
          </p:cNvPr>
          <p:cNvSpPr>
            <a:spLocks noGrp="1"/>
          </p:cNvSpPr>
          <p:nvPr/>
        </p:nvSpPr>
        <p:spPr>
          <a:xfrm>
            <a:off x="609600" y="6172200"/>
            <a:ext cx="10972800" cy="2476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This small sample does not establish live AI latency, model quality or concurrent capacity.</a:t>
            </a:r>
          </a:p>
        </p:txBody>
      </p:sp>
    </p:spTree>
    <p:extLst>
      <p:ext uri="{BB962C8B-B14F-4D97-AF65-F5344CB8AC3E}">
        <p14:creationId xmlns:p14="http://schemas.microsoft.com/office/powerpoint/2010/main" val="1333338744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602822ED-4CB5-4381-9F24-2F4FC5699740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Public website checks and timing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FC0131-6187-45FA-B014-D4A43684748B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22   NAMMA VEEDU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05F0249A-E960-4943-BF58-19988C983C6E}"/>
              </a:ext>
            </a:extLst>
          </p:cNvPr>
          <p:cNvGraphicFramePr/>
          <p:nvPr/>
        </p:nvGraphicFramePr>
        <p:xfrm>
          <a:off x="609600" y="1619250"/>
          <a:ext cx="10972800" cy="4000500"/>
        </p:xfrm>
        <a:graphic>
          <a:graphicData uri="http://schemas.openxmlformats.org/drawingml/2006/table">
            <a:tbl>
              <a:tblPr/>
              <a:tblGrid>
                <a:gridCol w="552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483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Live observation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Result</a:t>
                      </a:r>
                    </a:p>
                  </a:txBody>
                  <a:tcPr>
                    <a:solidFill>
                      <a:srgbClr val="1833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Branding, welcome and Tamil switching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Passed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Flat results and pagination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148 saved matches, five listings per page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Empty state and recovery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Zero matches at ₹1 lakh; clearing budget restored results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Loan, area and source panels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Rendered without observed console errors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Warm reload upper bound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8.945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Source / recovery / Tamil switch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00" b="0">
                          <a:solidFill>
                            <a:srgbClr val="243746"/>
                          </a:solidFill>
                          <a:latin typeface="Arial"/>
                          <a:ea typeface="Arial"/>
                          <a:cs typeface="Arial"/>
                        </a:rPr>
                        <a:t>3.169 s / 3.013 s / 4.232 s</a:t>
                      </a:r>
                    </a:p>
                  </a:txBody>
                  <a:tcPr>
                    <a:solidFill>
                      <a:srgbClr val="EDE9D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4E879D8E-4B6F-4EDB-A78C-F48C41253EA1}"/>
              </a:ext>
            </a:extLst>
          </p:cNvPr>
          <p:cNvSpPr>
            <a:spLocks noGrp="1"/>
          </p:cNvSpPr>
          <p:nvPr/>
        </p:nvSpPr>
        <p:spPr>
          <a:xfrm>
            <a:off x="609600" y="5934075"/>
            <a:ext cx="10972800" cy="42862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Browser-control observations include tool overhead. First saved daily baseline; no daily trend yet.</a:t>
            </a:r>
          </a:p>
        </p:txBody>
      </p:sp>
    </p:spTree>
    <p:extLst>
      <p:ext uri="{BB962C8B-B14F-4D97-AF65-F5344CB8AC3E}">
        <p14:creationId xmlns:p14="http://schemas.microsoft.com/office/powerpoint/2010/main" val="6658062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D5D6479-3B20-46A1-9F41-CA6AD56C1DB1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Regression evidence and confirmed fixes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6F07A0A-6046-4D9B-8D40-883BB5F6D444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23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8DFDE5E-44E0-429D-AEB0-059D91A07FB7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Recorded test runs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94AC02C-B5C5-4468-BEF7-710CEB90F0B2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159 daily checks, 212 release checks and 219 dashboard-release checks passed.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144733-5858-4BDC-A534-E0B74ED3C863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Focused Wati validation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B89AD17-ACDC-46BB-BE47-8DBE5FD09D0B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33 adapter checks passed using isolated queues and mocked transport.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9F690701-69FB-404D-B94F-5F7E4FA1381A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Bug fixes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0C959C5A-E8E6-4FB6-A8F1-32F1B0668685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Preference removal, stale filters, result pagination and snapshot continuity.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6F139A4F-C5E4-4C17-8725-5008540CB7F4}"/>
              </a:ext>
            </a:extLst>
          </p:cNvPr>
          <p:cNvSpPr>
            <a:spLocks noGrp="1"/>
          </p:cNvSpPr>
          <p:nvPr/>
        </p:nvSpPr>
        <p:spPr>
          <a:xfrm>
            <a:off x="6429375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Feedback and reporting fixes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CF7C190-7E80-4A08-A787-B03E85171BD7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Shared feedback visibility, learning draft refresh and follow-up reporting.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1FD1634B-F42E-49E2-A0BF-CF7258CB4FEF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Deployment and visual fixes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CD5D1AD6-977F-4850-95C6-E83541C72895}"/>
              </a:ext>
            </a:extLst>
          </p:cNvPr>
          <p:cNvSpPr>
            <a:spLocks noGrp="1"/>
          </p:cNvSpPr>
          <p:nvPr/>
        </p:nvSpPr>
        <p:spPr>
          <a:xfrm>
            <a:off x="6429375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Cleared stale imports, removed text shadows and improved chart/table contrast.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1D305F9-8777-4055-B424-0B33A6D2E58D}"/>
              </a:ext>
            </a:extLst>
          </p:cNvPr>
          <p:cNvSpPr>
            <a:spLocks noGrp="1"/>
          </p:cNvSpPr>
          <p:nvPr/>
        </p:nvSpPr>
        <p:spPr>
          <a:xfrm>
            <a:off x="6429375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Scope of the evidence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22AB6591-A8EC-44EA-9200-215EB9EB9A69}"/>
              </a:ext>
            </a:extLst>
          </p:cNvPr>
          <p:cNvSpPr>
            <a:spLocks noGrp="1"/>
          </p:cNvSpPr>
          <p:nvPr/>
        </p:nvSpPr>
        <p:spPr>
          <a:xfrm>
            <a:off x="6429375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Suites overlap. They are separate runs and must not be added into a unique-test total.</a:t>
            </a:r>
          </a:p>
        </p:txBody>
      </p:sp>
    </p:spTree>
    <p:extLst>
      <p:ext uri="{BB962C8B-B14F-4D97-AF65-F5344CB8AC3E}">
        <p14:creationId xmlns:p14="http://schemas.microsoft.com/office/powerpoint/2010/main" val="6585846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2E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F5F68AAB-1E6D-41A6-AD68-19A0649766BA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WhatsApp progress and remaining work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2F1C8EB-A9C9-4D0D-A4C4-911EEF561CDE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24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A4B2CCD-7DB5-4258-AAD4-10AAC6963D90}"/>
              </a:ext>
            </a:extLst>
          </p:cNvPr>
          <p:cNvSpPr>
            <a:spLocks noGrp="1"/>
          </p:cNvSpPr>
          <p:nvPr/>
        </p:nvSpPr>
        <p:spPr>
          <a:xfrm>
            <a:off x="609600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Completed in code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BB4B619-0D56-4013-9E40-64E17FA512A2}"/>
              </a:ext>
            </a:extLst>
          </p:cNvPr>
          <p:cNvSpPr>
            <a:spLocks noGrp="1"/>
          </p:cNvSpPr>
          <p:nvPr/>
        </p:nvSpPr>
        <p:spPr>
          <a:xfrm>
            <a:off x="609600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Consent checks, recommendation template adapter, stop link and guarded queue processing.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0E6A519-9149-4210-A8C8-E200B953FD51}"/>
              </a:ext>
            </a:extLst>
          </p:cNvPr>
          <p:cNvSpPr>
            <a:spLocks noGrp="1"/>
          </p:cNvSpPr>
          <p:nvPr/>
        </p:nvSpPr>
        <p:spPr>
          <a:xfrm>
            <a:off x="609600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Completed in account setup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4723587-7CAE-4759-9DFF-35EF9B66A5F3}"/>
              </a:ext>
            </a:extLst>
          </p:cNvPr>
          <p:cNvSpPr>
            <a:spLocks noGrp="1"/>
          </p:cNvSpPr>
          <p:nvPr/>
        </p:nvSpPr>
        <p:spPr>
          <a:xfrm>
            <a:off x="609600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Wati trial and business details. Customer moved the sender to WhatsApp Business.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B2811748-3B03-4864-94F0-5C4B56B2359E}"/>
              </a:ext>
            </a:extLst>
          </p:cNvPr>
          <p:cNvSpPr>
            <a:spLocks noGrp="1"/>
          </p:cNvSpPr>
          <p:nvPr/>
        </p:nvSpPr>
        <p:spPr>
          <a:xfrm>
            <a:off x="609600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Current state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276B84B7-B407-4D78-AF8C-8797E3769B51}"/>
              </a:ext>
            </a:extLst>
          </p:cNvPr>
          <p:cNvSpPr>
            <a:spLocks noGrp="1"/>
          </p:cNvSpPr>
          <p:nvPr/>
        </p:nvSpPr>
        <p:spPr>
          <a:xfrm>
            <a:off x="609600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Wati confirms Connected and setup Completed. Production Wati messages remain disabled.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A5C052C-33EB-4884-905D-45EA6D641C07}"/>
              </a:ext>
            </a:extLst>
          </p:cNvPr>
          <p:cNvSpPr>
            <a:spLocks noGrp="1"/>
          </p:cNvSpPr>
          <p:nvPr/>
        </p:nvSpPr>
        <p:spPr>
          <a:xfrm>
            <a:off x="6429375" y="17335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Required before sending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194BFCF2-E8AA-46A3-9D9C-AA054F0DB2A8}"/>
              </a:ext>
            </a:extLst>
          </p:cNvPr>
          <p:cNvSpPr>
            <a:spLocks noGrp="1"/>
          </p:cNvSpPr>
          <p:nvPr/>
        </p:nvSpPr>
        <p:spPr>
          <a:xfrm>
            <a:off x="6429375" y="21050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Check account readiness and approve the recommendation template.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D9A027F-BC22-415B-86C5-BFE335D28299}"/>
              </a:ext>
            </a:extLst>
          </p:cNvPr>
          <p:cNvSpPr>
            <a:spLocks noGrp="1"/>
          </p:cNvSpPr>
          <p:nvPr/>
        </p:nvSpPr>
        <p:spPr>
          <a:xfrm>
            <a:off x="6429375" y="297180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Required before activation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A6E9B05-027A-46EB-800F-FFF0246E5BDB}"/>
              </a:ext>
            </a:extLst>
          </p:cNvPr>
          <p:cNvSpPr>
            <a:spLocks noGrp="1"/>
          </p:cNvSpPr>
          <p:nvPr/>
        </p:nvSpPr>
        <p:spPr>
          <a:xfrm>
            <a:off x="6429375" y="334327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Store private API settings, verify an own-number message and configure a worker.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695853F-C9C2-4AAE-B8C4-E4B21D5CB9DB}"/>
              </a:ext>
            </a:extLst>
          </p:cNvPr>
          <p:cNvSpPr>
            <a:spLocks noGrp="1"/>
          </p:cNvSpPr>
          <p:nvPr/>
        </p:nvSpPr>
        <p:spPr>
          <a:xfrm>
            <a:off x="6429375" y="4210050"/>
            <a:ext cx="5086350" cy="3238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02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Further messaging work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576FAD5D-2B4C-481A-93AA-73F0C71D46B3}"/>
              </a:ext>
            </a:extLst>
          </p:cNvPr>
          <p:cNvSpPr>
            <a:spLocks noGrp="1"/>
          </p:cNvSpPr>
          <p:nvPr/>
        </p:nvSpPr>
        <p:spPr>
          <a:xfrm>
            <a:off x="6429375" y="4581525"/>
            <a:ext cx="5086350" cy="6000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87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Verified delivery webhooks, incoming replies, STOP handling and WhatsApp visit messages.</a:t>
            </a:r>
          </a:p>
        </p:txBody>
      </p:sp>
    </p:spTree>
    <p:extLst>
      <p:ext uri="{BB962C8B-B14F-4D97-AF65-F5344CB8AC3E}">
        <p14:creationId xmlns:p14="http://schemas.microsoft.com/office/powerpoint/2010/main" val="71783432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8334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299B17B2-47B4-4633-B6F7-739877741527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904875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33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Current delivery and next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08D1A97-7E1A-4FAB-8330-33580B3EF116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1125" b="0">
                <a:solidFill>
                  <a:srgbClr val="D9C99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125" b="0">
                <a:solidFill>
                  <a:srgbClr val="D9C99F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D9C99F"/>
                </a:solidFill>
                <a:latin typeface="Arial"/>
                <a:ea typeface="Arial"/>
                <a:cs typeface="Arial"/>
              </a:rPr>
              <a:t>25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84F608-098A-47B9-9A4A-8CA12F7A04B6}"/>
              </a:ext>
            </a:extLst>
          </p:cNvPr>
          <p:cNvSpPr>
            <a:spLocks noGrp="1"/>
          </p:cNvSpPr>
          <p:nvPr/>
        </p:nvSpPr>
        <p:spPr>
          <a:xfrm>
            <a:off x="609600" y="1828800"/>
            <a:ext cx="5238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Live core product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7A8F840-090C-4032-9A18-3AE81B6CD576}"/>
              </a:ext>
            </a:extLst>
          </p:cNvPr>
          <p:cNvSpPr>
            <a:spLocks noGrp="1"/>
          </p:cNvSpPr>
          <p:nvPr/>
        </p:nvSpPr>
        <p:spPr>
          <a:xfrm>
            <a:off x="609600" y="2466975"/>
            <a:ext cx="5143500" cy="17145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E9E5D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9E5D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9E5DB"/>
                </a:solidFill>
                <a:latin typeface="Arial"/>
                <a:ea typeface="Arial"/>
                <a:cs typeface="Arial"/>
              </a:rPr>
              <a:t>Website, Mira, shared records, reviewed learning, visits and owner reporting.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A5D1D099-B22D-447C-9851-FC6ED3918BF9}"/>
              </a:ext>
            </a:extLst>
          </p:cNvPr>
          <p:cNvSpPr>
            <a:spLocks noGrp="1"/>
          </p:cNvSpPr>
          <p:nvPr/>
        </p:nvSpPr>
        <p:spPr>
          <a:xfrm>
            <a:off x="6667500" y="1828800"/>
            <a:ext cx="4857750" cy="4572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6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Remaining proof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FB02321-C61A-487B-8B1D-3A579EBA7F1A}"/>
              </a:ext>
            </a:extLst>
          </p:cNvPr>
          <p:cNvSpPr>
            <a:spLocks noGrp="1"/>
          </p:cNvSpPr>
          <p:nvPr/>
        </p:nvSpPr>
        <p:spPr>
          <a:xfrm>
            <a:off x="6667500" y="2466975"/>
            <a:ext cx="4857750" cy="18097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400" b="0">
                <a:solidFill>
                  <a:srgbClr val="E9E5D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400" b="0">
                <a:solidFill>
                  <a:srgbClr val="E9E5DB"/>
                </a:solidFill>
                <a:latin typeface="Arial"/>
                <a:ea typeface="Arial"/>
                <a:cs typeface="Arial"/>
              </a:defRPr>
            </a:pPr>
            <a:r>
              <a:rPr sz="2400" b="0">
                <a:solidFill>
                  <a:srgbClr val="E9E5DB"/>
                </a:solidFill>
                <a:latin typeface="Arial"/>
                <a:ea typeface="Arial"/>
                <a:cs typeface="Arial"/>
              </a:rPr>
              <a:t>Wati activation, real visit-email receipt, concurrent-user testing and validated purchase outcomes.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CF36071-2924-4070-AFEC-187E98DD04D3}"/>
              </a:ext>
            </a:extLst>
          </p:cNvPr>
          <p:cNvSpPr>
            <a:spLocks noGrp="1"/>
          </p:cNvSpPr>
          <p:nvPr/>
        </p:nvSpPr>
        <p:spPr>
          <a:xfrm>
            <a:off x="609600" y="5219700"/>
            <a:ext cx="10715625" cy="74295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/>
          <a:lstStyle>
            <a:defPPr>
              <a:defRPr sz="2175" b="0">
                <a:solidFill>
                  <a:srgbClr val="D9C99F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2175" b="0">
                <a:solidFill>
                  <a:srgbClr val="D9C99F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D9C99F"/>
                </a:solidFill>
                <a:latin typeface="Arial"/>
                <a:ea typeface="Arial"/>
                <a:cs typeface="Arial"/>
              </a:rPr>
              <a:t>The next release should follow a consented message test and verified delivery configuration.</a:t>
            </a:r>
          </a:p>
        </p:txBody>
      </p:sp>
    </p:spTree>
    <p:extLst>
      <p:ext uri="{BB962C8B-B14F-4D97-AF65-F5344CB8AC3E}">
        <p14:creationId xmlns:p14="http://schemas.microsoft.com/office/powerpoint/2010/main" val="146112690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F2AA36B-2C30-4F76-BFDD-5F84D53C8BC8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Budget ranges and selected recommendations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E6178AEC-DA72-4F43-B4F1-DCA9728CEE68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26   NAMMA VEEDU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8358A75-0DAA-414F-855C-B20BD1A9CB71}"/>
              </a:ext>
            </a:extLst>
          </p:cNvPr>
          <p:cNvSpPr>
            <a:spLocks noGrp="1"/>
          </p:cNvSpPr>
          <p:nvPr/>
        </p:nvSpPr>
        <p:spPr>
          <a:xfrm>
            <a:off x="609600" y="1714500"/>
            <a:ext cx="495300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Mira keeps both limits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738AD3B-FCCD-4CEA-8228-88C68094B35C}"/>
              </a:ext>
            </a:extLst>
          </p:cNvPr>
          <p:cNvSpPr>
            <a:spLocks noGrp="1"/>
          </p:cNvSpPr>
          <p:nvPr/>
        </p:nvSpPr>
        <p:spPr>
          <a:xfrm>
            <a:off x="609600" y="2114550"/>
            <a:ext cx="4953000" cy="971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“15–90 lakhs” becomes a ₹15 lakh minimum and a ₹90 lakh maximum. Search, memory and follow-up use the same range.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F5969E6-CD4A-4542-B6DF-F877ED752940}"/>
              </a:ext>
            </a:extLst>
          </p:cNvPr>
          <p:cNvSpPr>
            <a:spLocks noGrp="1"/>
          </p:cNvSpPr>
          <p:nvPr/>
        </p:nvSpPr>
        <p:spPr>
          <a:xfrm>
            <a:off x="609600" y="3333750"/>
            <a:ext cx="4953000" cy="609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7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Customer choice controls the follow-up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2060C48-1281-485E-A8D0-EEAEB2908376}"/>
              </a:ext>
            </a:extLst>
          </p:cNvPr>
          <p:cNvSpPr>
            <a:spLocks noGrp="1"/>
          </p:cNvSpPr>
          <p:nvPr/>
        </p:nvSpPr>
        <p:spPr>
          <a:xfrm>
            <a:off x="609600" y="3943350"/>
            <a:ext cx="4953000" cy="12001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Each result has an email and WhatsApp checkbox. Up to three selected properties form the saved recommendation snapshot with recorded price and source.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B33E390-05B8-4BE6-9F04-B07D29EC2727}"/>
              </a:ext>
            </a:extLst>
          </p:cNvPr>
          <p:cNvSpPr>
            <a:spLocks noGrp="1"/>
          </p:cNvSpPr>
          <p:nvPr/>
        </p:nvSpPr>
        <p:spPr>
          <a:xfrm>
            <a:off x="609600" y="5353050"/>
            <a:ext cx="4953000" cy="5143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No BHK is inferred from price, location or property type.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BD87A9F9-CCE7-492C-A9F3-CB16CD1E82D1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13000"/>
          <a:stretch/>
        </p:blipFill>
        <p:spPr>
          <a:xfrm>
            <a:off x="6143625" y="1619250"/>
            <a:ext cx="542925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E68B634F-4CC6-4984-91E5-CB3E6670F059}"/>
              </a:ext>
            </a:extLst>
          </p:cNvPr>
          <p:cNvSpPr>
            <a:spLocks noGrp="1"/>
          </p:cNvSpPr>
          <p:nvPr/>
        </p:nvSpPr>
        <p:spPr>
          <a:xfrm>
            <a:off x="6143625" y="5810250"/>
            <a:ext cx="542925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3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35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Conversation memory example</a:t>
            </a:r>
          </a:p>
        </p:txBody>
      </p:sp>
    </p:spTree>
    <p:extLst>
      <p:ext uri="{BB962C8B-B14F-4D97-AF65-F5344CB8AC3E}">
        <p14:creationId xmlns:p14="http://schemas.microsoft.com/office/powerpoint/2010/main" val="272060235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8FDA528-1821-4AA7-A1A2-E4F26AB0675B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Email continues while WhatsApp approval is pending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5E7DA65-F47D-4F6B-8289-8F3B92EC0752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27   NAMMA VEEDU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6272F32-1EFE-4836-8D8C-DC80369108D4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89" r="89"/>
          <a:stretch>
            <a:fillRect/>
          </a:stretch>
        </p:blipFill>
        <p:spPr>
          <a:xfrm>
            <a:off x="609600" y="1571625"/>
            <a:ext cx="4095750" cy="4000500"/>
          </a:xfrm>
          <a:prstGeom prst="roundRect">
            <a:avLst>
              <a:gd name="adj" fmla="val 2857"/>
            </a:avLst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9296CCEC-0A9B-47AF-8F28-155AB8DA075C}"/>
              </a:ext>
            </a:extLst>
          </p:cNvPr>
          <p:cNvSpPr>
            <a:spLocks noGrp="1"/>
          </p:cNvSpPr>
          <p:nvPr/>
        </p:nvSpPr>
        <p:spPr>
          <a:xfrm>
            <a:off x="5286375" y="16668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Email is the active interim channel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596E2629-333D-443D-A31B-94CDE98985CD}"/>
              </a:ext>
            </a:extLst>
          </p:cNvPr>
          <p:cNvSpPr>
            <a:spLocks noGrp="1"/>
          </p:cNvSpPr>
          <p:nvPr/>
        </p:nvSpPr>
        <p:spPr>
          <a:xfrm>
            <a:off x="5286375" y="2085975"/>
            <a:ext cx="6191250" cy="98107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With consent and a valid address, End chat sends the selected recommendations immediately. The saved cadence can continue through the email worker.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65DC9CD-C9B7-4D10-A452-7A03E840C07C}"/>
              </a:ext>
            </a:extLst>
          </p:cNvPr>
          <p:cNvSpPr>
            <a:spLocks noGrp="1"/>
          </p:cNvSpPr>
          <p:nvPr/>
        </p:nvSpPr>
        <p:spPr>
          <a:xfrm>
            <a:off x="5286375" y="3381375"/>
            <a:ext cx="6191250" cy="3238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21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One recommendation snapshot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8AECF72-1B65-4061-8E7C-E93A56080862}"/>
              </a:ext>
            </a:extLst>
          </p:cNvPr>
          <p:cNvSpPr>
            <a:spLocks noGrp="1"/>
          </p:cNvSpPr>
          <p:nvPr/>
        </p:nvSpPr>
        <p:spPr>
          <a:xfrm>
            <a:off x="5286375" y="3800475"/>
            <a:ext cx="6191250" cy="13049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The message includes selected properties, source links and finance next steps. The same saved content will feed WhatsApp after Meta approves the Wati template and production delivery passes its test.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1C10F30-7145-4AD0-9488-928DCE313E04}"/>
              </a:ext>
            </a:extLst>
          </p:cNvPr>
          <p:cNvSpPr>
            <a:spLocks noGrp="1"/>
          </p:cNvSpPr>
          <p:nvPr/>
        </p:nvSpPr>
        <p:spPr>
          <a:xfrm>
            <a:off x="5286375" y="5429250"/>
            <a:ext cx="6191250" cy="457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7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7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Mira Studio records Email, WhatsApp or both in Follow-up methods.</a:t>
            </a:r>
          </a:p>
        </p:txBody>
      </p:sp>
    </p:spTree>
    <p:extLst>
      <p:ext uri="{BB962C8B-B14F-4D97-AF65-F5344CB8AC3E}">
        <p14:creationId xmlns:p14="http://schemas.microsoft.com/office/powerpoint/2010/main" val="307771117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Rectangle 39">
            <a:extLst>
              <a:ext uri="{FF2B5EF4-FFF2-40B4-BE49-F238E27FC236}">
                <a16:creationId xmlns:a16="http://schemas.microsoft.com/office/drawing/2014/main" id="{D3D915D4-B6BB-4E0D-94CF-0175810E9720}"/>
              </a:ext>
            </a:extLst>
          </p:cNvPr>
          <p:cNvSpPr>
            <a:spLocks noGrp="1"/>
          </p:cNvSpPr>
          <p:nvPr/>
        </p:nvSpPr>
        <p:spPr>
          <a:xfrm>
            <a:off x="609600" y="466725"/>
            <a:ext cx="10972800" cy="80962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3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33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Implemented customer journey and dashboard evidence</a:t>
            </a: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5116761-5D82-4DF9-9CE7-B5319801162D}"/>
              </a:ext>
            </a:extLst>
          </p:cNvPr>
          <p:cNvSpPr>
            <a:spLocks noGrp="1"/>
          </p:cNvSpPr>
          <p:nvPr/>
        </p:nvSpPr>
        <p:spPr>
          <a:xfrm>
            <a:off x="609600" y="6419850"/>
            <a:ext cx="952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125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28   NAMMA VEEDU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322D8297-B57D-463F-83AE-CCC07D237140}"/>
              </a:ext>
            </a:extLst>
          </p:cNvPr>
          <p:cNvSpPr>
            <a:spLocks noGrp="1"/>
          </p:cNvSpPr>
          <p:nvPr/>
        </p:nvSpPr>
        <p:spPr>
          <a:xfrm>
            <a:off x="609600" y="1571625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E9EF56C3-33C8-468A-B641-7AD8A97B7DF9}"/>
              </a:ext>
            </a:extLst>
          </p:cNvPr>
          <p:cNvSpPr>
            <a:spLocks noGrp="1"/>
          </p:cNvSpPr>
          <p:nvPr/>
        </p:nvSpPr>
        <p:spPr>
          <a:xfrm>
            <a:off x="781050" y="17240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E2486FA-D7DF-4CDE-A871-D505EF80E2C4}"/>
              </a:ext>
            </a:extLst>
          </p:cNvPr>
          <p:cNvSpPr>
            <a:spLocks noGrp="1"/>
          </p:cNvSpPr>
          <p:nvPr/>
        </p:nvSpPr>
        <p:spPr>
          <a:xfrm>
            <a:off x="1219200" y="16954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Property data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9E9A806-FB5F-4510-82DA-64EE7EDF381F}"/>
              </a:ext>
            </a:extLst>
          </p:cNvPr>
          <p:cNvSpPr>
            <a:spLocks noGrp="1"/>
          </p:cNvSpPr>
          <p:nvPr/>
        </p:nvSpPr>
        <p:spPr>
          <a:xfrm>
            <a:off x="1219200" y="2200275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Saved records and source boundaries</a:t>
            </a:r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A9CD0D84-1D13-4B17-99B8-BCCD2D46B98D}"/>
              </a:ext>
            </a:extLst>
          </p:cNvPr>
          <p:cNvSpPr>
            <a:spLocks noGrp="1"/>
          </p:cNvSpPr>
          <p:nvPr/>
        </p:nvSpPr>
        <p:spPr>
          <a:xfrm>
            <a:off x="4267200" y="1571625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6E60C7DE-BA0B-402E-AD3D-BD1B813CFF60}"/>
              </a:ext>
            </a:extLst>
          </p:cNvPr>
          <p:cNvSpPr>
            <a:spLocks noGrp="1"/>
          </p:cNvSpPr>
          <p:nvPr/>
        </p:nvSpPr>
        <p:spPr>
          <a:xfrm>
            <a:off x="4438650" y="17240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3F498EB-0EE8-489B-9E60-EF1A3642FC0D}"/>
              </a:ext>
            </a:extLst>
          </p:cNvPr>
          <p:cNvSpPr>
            <a:spLocks noGrp="1"/>
          </p:cNvSpPr>
          <p:nvPr/>
        </p:nvSpPr>
        <p:spPr>
          <a:xfrm>
            <a:off x="4876800" y="16954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Website and Mira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524309D6-7F6C-441C-83B2-84409674DD4F}"/>
              </a:ext>
            </a:extLst>
          </p:cNvPr>
          <p:cNvSpPr>
            <a:spLocks noGrp="1"/>
          </p:cNvSpPr>
          <p:nvPr/>
        </p:nvSpPr>
        <p:spPr>
          <a:xfrm>
            <a:off x="4876800" y="2200275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English and Tamil guided search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BA41CB65-9367-4C52-9C16-8FD9980D11B3}"/>
              </a:ext>
            </a:extLst>
          </p:cNvPr>
          <p:cNvSpPr>
            <a:spLocks noGrp="1"/>
          </p:cNvSpPr>
          <p:nvPr/>
        </p:nvSpPr>
        <p:spPr>
          <a:xfrm>
            <a:off x="7924800" y="1571625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67AB5B4F-1F8E-40F2-9032-C95A31C6E419}"/>
              </a:ext>
            </a:extLst>
          </p:cNvPr>
          <p:cNvSpPr>
            <a:spLocks noGrp="1"/>
          </p:cNvSpPr>
          <p:nvPr/>
        </p:nvSpPr>
        <p:spPr>
          <a:xfrm>
            <a:off x="8096250" y="172402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51D9846-7845-4148-BCD1-B110934628FD}"/>
              </a:ext>
            </a:extLst>
          </p:cNvPr>
          <p:cNvSpPr>
            <a:spLocks noGrp="1"/>
          </p:cNvSpPr>
          <p:nvPr/>
        </p:nvSpPr>
        <p:spPr>
          <a:xfrm>
            <a:off x="8534400" y="169545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Preferences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19A650BE-F714-4CB0-BAE5-218FE5F3AEAE}"/>
              </a:ext>
            </a:extLst>
          </p:cNvPr>
          <p:cNvSpPr>
            <a:spLocks noGrp="1"/>
          </p:cNvSpPr>
          <p:nvPr/>
        </p:nvSpPr>
        <p:spPr>
          <a:xfrm>
            <a:off x="8534400" y="2200275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Range, type, BHK and location</a:t>
            </a:r>
          </a:p>
        </p:txBody>
      </p:sp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939983C7-D301-4F1B-A8F8-0AE965273D6E}"/>
              </a:ext>
            </a:extLst>
          </p:cNvPr>
          <p:cNvSpPr>
            <a:spLocks noGrp="1"/>
          </p:cNvSpPr>
          <p:nvPr/>
        </p:nvSpPr>
        <p:spPr>
          <a:xfrm>
            <a:off x="609600" y="2952750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7DC5FC3-9A94-4C52-8A60-4B59A825110F}"/>
              </a:ext>
            </a:extLst>
          </p:cNvPr>
          <p:cNvSpPr>
            <a:spLocks noGrp="1"/>
          </p:cNvSpPr>
          <p:nvPr/>
        </p:nvSpPr>
        <p:spPr>
          <a:xfrm>
            <a:off x="781050" y="3105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09702E2F-A531-4762-8917-E05C3A219434}"/>
              </a:ext>
            </a:extLst>
          </p:cNvPr>
          <p:cNvSpPr>
            <a:spLocks noGrp="1"/>
          </p:cNvSpPr>
          <p:nvPr/>
        </p:nvSpPr>
        <p:spPr>
          <a:xfrm>
            <a:off x="1219200" y="3076575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Recommendation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CFA235F-CEF3-496A-BC5F-B96218F0EB91}"/>
              </a:ext>
            </a:extLst>
          </p:cNvPr>
          <p:cNvSpPr>
            <a:spLocks noGrp="1"/>
          </p:cNvSpPr>
          <p:nvPr/>
        </p:nvSpPr>
        <p:spPr>
          <a:xfrm>
            <a:off x="1219200" y="358140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Selectable properties and sources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0AA77347-CA6B-4B6C-BED0-2B2B5D83952C}"/>
              </a:ext>
            </a:extLst>
          </p:cNvPr>
          <p:cNvSpPr>
            <a:spLocks noGrp="1"/>
          </p:cNvSpPr>
          <p:nvPr/>
        </p:nvSpPr>
        <p:spPr>
          <a:xfrm>
            <a:off x="4267200" y="2952750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C19EB42-E983-48EC-9BF9-D24801E1ECD0}"/>
              </a:ext>
            </a:extLst>
          </p:cNvPr>
          <p:cNvSpPr>
            <a:spLocks noGrp="1"/>
          </p:cNvSpPr>
          <p:nvPr/>
        </p:nvSpPr>
        <p:spPr>
          <a:xfrm>
            <a:off x="4438650" y="3105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5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F0B9893-7703-49F3-B5A4-C83F028EC055}"/>
              </a:ext>
            </a:extLst>
          </p:cNvPr>
          <p:cNvSpPr>
            <a:spLocks noGrp="1"/>
          </p:cNvSpPr>
          <p:nvPr/>
        </p:nvSpPr>
        <p:spPr>
          <a:xfrm>
            <a:off x="4876800" y="3076575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Property visit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7EFF18F-DA77-44E9-9E94-24C8DC175AB3}"/>
              </a:ext>
            </a:extLst>
          </p:cNvPr>
          <p:cNvSpPr>
            <a:spLocks noGrp="1"/>
          </p:cNvSpPr>
          <p:nvPr/>
        </p:nvSpPr>
        <p:spPr>
          <a:xfrm>
            <a:off x="4876800" y="358140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Fixed or requested slot</a:t>
            </a:r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30D231B2-E849-40BC-AD8D-94B4725D69DE}"/>
              </a:ext>
            </a:extLst>
          </p:cNvPr>
          <p:cNvSpPr>
            <a:spLocks noGrp="1"/>
          </p:cNvSpPr>
          <p:nvPr/>
        </p:nvSpPr>
        <p:spPr>
          <a:xfrm>
            <a:off x="7924800" y="2952750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FFFFFF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6551E40-4057-4145-935A-04C9B38C27E6}"/>
              </a:ext>
            </a:extLst>
          </p:cNvPr>
          <p:cNvSpPr>
            <a:spLocks noGrp="1"/>
          </p:cNvSpPr>
          <p:nvPr/>
        </p:nvSpPr>
        <p:spPr>
          <a:xfrm>
            <a:off x="8096250" y="3105150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F0AB90DE-2BB9-48D4-B9A0-E7F34A750975}"/>
              </a:ext>
            </a:extLst>
          </p:cNvPr>
          <p:cNvSpPr>
            <a:spLocks noGrp="1"/>
          </p:cNvSpPr>
          <p:nvPr/>
        </p:nvSpPr>
        <p:spPr>
          <a:xfrm>
            <a:off x="8534400" y="3076575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One-hour reminder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B4AC0BCA-E75C-4048-8D58-9A60EC3B36AD}"/>
              </a:ext>
            </a:extLst>
          </p:cNvPr>
          <p:cNvSpPr>
            <a:spLocks noGrp="1"/>
          </p:cNvSpPr>
          <p:nvPr/>
        </p:nvSpPr>
        <p:spPr>
          <a:xfrm>
            <a:off x="8534400" y="3581400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Consented confirmed email visit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701DBF8-000E-4E3D-911E-8B375ACE548F}"/>
              </a:ext>
            </a:extLst>
          </p:cNvPr>
          <p:cNvSpPr>
            <a:spLocks noGrp="1"/>
          </p:cNvSpPr>
          <p:nvPr/>
        </p:nvSpPr>
        <p:spPr>
          <a:xfrm>
            <a:off x="609600" y="4333875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E7DCC6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FE2E9306-7374-4791-BE04-5DF6EF189190}"/>
              </a:ext>
            </a:extLst>
          </p:cNvPr>
          <p:cNvSpPr>
            <a:spLocks noGrp="1"/>
          </p:cNvSpPr>
          <p:nvPr/>
        </p:nvSpPr>
        <p:spPr>
          <a:xfrm>
            <a:off x="781050" y="44862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7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E6E1B1EE-C9A3-4C89-91F9-104D6AC37D5E}"/>
              </a:ext>
            </a:extLst>
          </p:cNvPr>
          <p:cNvSpPr>
            <a:spLocks noGrp="1"/>
          </p:cNvSpPr>
          <p:nvPr/>
        </p:nvSpPr>
        <p:spPr>
          <a:xfrm>
            <a:off x="1219200" y="445770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Visit response</a:t>
            </a:r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55FAFF1F-9C22-4C7E-A72F-F3FA04054DB6}"/>
              </a:ext>
            </a:extLst>
          </p:cNvPr>
          <p:cNvSpPr>
            <a:spLocks noGrp="1"/>
          </p:cNvSpPr>
          <p:nvPr/>
        </p:nvSpPr>
        <p:spPr>
          <a:xfrm>
            <a:off x="1219200" y="4962525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Attendance, satisfaction and reason</a:t>
            </a: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FB4C6F3B-F8F7-4197-803B-D4AD9BBC3560}"/>
              </a:ext>
            </a:extLst>
          </p:cNvPr>
          <p:cNvSpPr>
            <a:spLocks noGrp="1"/>
          </p:cNvSpPr>
          <p:nvPr/>
        </p:nvSpPr>
        <p:spPr>
          <a:xfrm>
            <a:off x="4267200" y="4333875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E7DCC6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32" name="Rectangle 31">
            <a:extLst>
              <a:ext uri="{FF2B5EF4-FFF2-40B4-BE49-F238E27FC236}">
                <a16:creationId xmlns:a16="http://schemas.microsoft.com/office/drawing/2014/main" id="{3B9B9B12-EED7-47EB-8D18-0EAD0852BDCE}"/>
              </a:ext>
            </a:extLst>
          </p:cNvPr>
          <p:cNvSpPr>
            <a:spLocks noGrp="1"/>
          </p:cNvSpPr>
          <p:nvPr/>
        </p:nvSpPr>
        <p:spPr>
          <a:xfrm>
            <a:off x="4438650" y="44862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86CF5E30-4919-4563-91ED-0F80FF4A1728}"/>
              </a:ext>
            </a:extLst>
          </p:cNvPr>
          <p:cNvSpPr>
            <a:spLocks noGrp="1"/>
          </p:cNvSpPr>
          <p:nvPr/>
        </p:nvSpPr>
        <p:spPr>
          <a:xfrm>
            <a:off x="4876800" y="445770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Further assistance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12F8388A-EBAD-4EA0-932B-546881D0417C}"/>
              </a:ext>
            </a:extLst>
          </p:cNvPr>
          <p:cNvSpPr>
            <a:spLocks noGrp="1"/>
          </p:cNvSpPr>
          <p:nvPr/>
        </p:nvSpPr>
        <p:spPr>
          <a:xfrm>
            <a:off x="4876800" y="4962525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Property help or loan support</a:t>
            </a:r>
          </a:p>
        </p:txBody>
      </p: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70C875F1-F359-46A2-96CC-B5A4EBBF1D37}"/>
              </a:ext>
            </a:extLst>
          </p:cNvPr>
          <p:cNvSpPr>
            <a:spLocks noGrp="1"/>
          </p:cNvSpPr>
          <p:nvPr/>
        </p:nvSpPr>
        <p:spPr>
          <a:xfrm>
            <a:off x="7924800" y="4333875"/>
            <a:ext cx="3333750" cy="1123950"/>
          </a:xfrm>
          <a:prstGeom prst="roundRect">
            <a:avLst>
              <a:gd name="adj" fmla="val 10169"/>
            </a:avLst>
          </a:prstGeom>
          <a:solidFill>
            <a:srgbClr val="E7DCC6"/>
          </a:solidFill>
          <a:ln w="9525">
            <a:solidFill>
              <a:srgbClr val="C9C1B1"/>
            </a:solidFill>
            <a:prstDash val="solid"/>
          </a:ln>
        </p:spPr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252955A3-76CF-4FD4-B175-C5C67517D0F0}"/>
              </a:ext>
            </a:extLst>
          </p:cNvPr>
          <p:cNvSpPr>
            <a:spLocks noGrp="1"/>
          </p:cNvSpPr>
          <p:nvPr/>
        </p:nvSpPr>
        <p:spPr>
          <a:xfrm>
            <a:off x="8096250" y="4486275"/>
            <a:ext cx="361950" cy="3619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C86B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C86B4A"/>
                </a:solidFill>
                <a:latin typeface="Arial"/>
                <a:ea typeface="Arial"/>
                <a:cs typeface="Arial"/>
              </a:rPr>
              <a:t>9</a:t>
            </a:r>
          </a:p>
        </p:txBody>
      </p:sp>
      <p:sp>
        <p:nvSpPr>
          <p:cNvPr id="37" name="Rectangle 36">
            <a:extLst>
              <a:ext uri="{FF2B5EF4-FFF2-40B4-BE49-F238E27FC236}">
                <a16:creationId xmlns:a16="http://schemas.microsoft.com/office/drawing/2014/main" id="{1934FBA0-6D62-4F4A-9238-0E8AC24A36D7}"/>
              </a:ext>
            </a:extLst>
          </p:cNvPr>
          <p:cNvSpPr>
            <a:spLocks noGrp="1"/>
          </p:cNvSpPr>
          <p:nvPr/>
        </p:nvSpPr>
        <p:spPr>
          <a:xfrm>
            <a:off x="8534400" y="4457700"/>
            <a:ext cx="253365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1">
                <a:solidFill>
                  <a:srgbClr val="18334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34D"/>
                </a:solidFill>
                <a:latin typeface="Arial"/>
                <a:ea typeface="Arial"/>
                <a:cs typeface="Arial"/>
              </a:rPr>
              <a:t>Assessment and learning</a:t>
            </a:r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1BF69970-D5D5-4FFC-991A-DE49F850B709}"/>
              </a:ext>
            </a:extLst>
          </p:cNvPr>
          <p:cNvSpPr>
            <a:spLocks noGrp="1"/>
          </p:cNvSpPr>
          <p:nvPr/>
        </p:nvSpPr>
        <p:spPr>
          <a:xfrm>
            <a:off x="8534400" y="4962525"/>
            <a:ext cx="2533650" cy="381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00" b="0">
                <a:solidFill>
                  <a:srgbClr val="243746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243746"/>
                </a:solidFill>
                <a:latin typeface="Arial"/>
                <a:ea typeface="Arial"/>
                <a:cs typeface="Arial"/>
              </a:rPr>
              <a:t>Likelihood evidence, feedback and rules</a:t>
            </a:r>
          </a:p>
        </p:txBody>
      </p:sp>
      <p:sp>
        <p:nvSpPr>
          <p:cNvPr id="39" name="Rectangle 38">
            <a:extLst>
              <a:ext uri="{FF2B5EF4-FFF2-40B4-BE49-F238E27FC236}">
                <a16:creationId xmlns:a16="http://schemas.microsoft.com/office/drawing/2014/main" id="{2F696C51-32F8-4E51-9288-2D0D843E0983}"/>
              </a:ext>
            </a:extLst>
          </p:cNvPr>
          <p:cNvSpPr>
            <a:spLocks noGrp="1"/>
          </p:cNvSpPr>
          <p:nvPr/>
        </p:nvSpPr>
        <p:spPr>
          <a:xfrm>
            <a:off x="609600" y="5857875"/>
            <a:ext cx="10972800" cy="4000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>
            <a:defPPr algn="l"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596976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96976"/>
                </a:solidFill>
                <a:latin typeface="Arial"/>
                <a:ea typeface="Arial"/>
                <a:cs typeface="Arial"/>
              </a:rPr>
              <a:t>The owner dashboard links inquiry, delivery method, visit evidence, customer feedback, assistance status and provisional purchase likelihood.</a:t>
            </a:r>
          </a:p>
        </p:txBody>
      </p:sp>
    </p:spTree>
    <p:extLst>
      <p:ext uri="{BB962C8B-B14F-4D97-AF65-F5344CB8AC3E}">
        <p14:creationId xmlns:p14="http://schemas.microsoft.com/office/powerpoint/2010/main" val="128214688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3460</Words>
  <Application>Microsoft Office PowerPoint</Application>
  <DocSecurity>0</DocSecurity>
  <PresentationFormat>Widescreen</PresentationFormat>
  <Paragraphs>426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Nicklesh G</cp:lastModifiedBy>
  <cp:revision>1</cp:revision>
  <dcterms:created xsi:type="dcterms:W3CDTF">2026-10-10T16:48:54Z</dcterms:created>
  <dcterms:modified xsi:type="dcterms:W3CDTF">2026-10-10T19:06:33Z</dcterms:modified>
</cp:coreProperties>
</file>